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Cambria" panose="02040503050406030204" pitchFamily="18" charset="0"/>
      <p:regular r:id="rId8"/>
      <p:bold r:id="rId9"/>
      <p:italic r:id="rId10"/>
      <p:boldItalic r:id="rId11"/>
    </p:embeddedFont>
    <p:embeddedFont>
      <p:font typeface="Canva Sans" panose="020B0604020202020204" charset="0"/>
      <p:regular r:id="rId12"/>
    </p:embeddedFont>
    <p:embeddedFont>
      <p:font typeface="Canva Sans Bold" panose="020B0604020202020204" charset="0"/>
      <p:bold r:id="rId13"/>
    </p:embeddedFont>
    <p:embeddedFont>
      <p:font typeface="Garamond Bold" panose="02020804030307010803" pitchFamily="18" charset="0"/>
      <p:bold r:id="rId14"/>
    </p:embeddedFont>
    <p:embeddedFont>
      <p:font typeface="Times New Roman Bold" panose="02020803070505020304" pitchFamily="18" charset="0"/>
      <p:bold r:id="rId15"/>
    </p:embeddedFont>
  </p:embeddedFontLst>
  <p:custDataLst>
    <p:tags r:id="rId16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164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tags" Target="tags/tag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providerId="Windows Live" clId="Web-{00000000-0000-0000-0000-000000000000}"/>
    <pc:docChg chg="modSld modMainMaster">
      <pc:chgData name="Guest User" userId="" providerId="Windows Live" clId="Web-{00000000-0000-0000-0000-000000000000}" dt="2026-09-23T18:22:57.997" v="1"/>
      <pc:docMkLst>
        <pc:docMk/>
      </pc:docMkLst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56"/>
        </pc:sldMkLst>
      </pc:sldChg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57"/>
        </pc:sldMkLst>
      </pc:sldChg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58"/>
        </pc:sldMkLst>
      </pc:sldChg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59"/>
        </pc:sldMkLst>
      </pc:sldChg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60"/>
        </pc:sldMkLst>
      </pc:sldChg>
      <pc:sldChg chg="modTransition">
        <pc:chgData name="Guest User" userId="" providerId="Windows Live" clId="Web-{00000000-0000-0000-0000-000000000000}" dt="2026-09-23T18:22:57.997" v="1"/>
        <pc:sldMkLst>
          <pc:docMk/>
          <pc:sldMk cId="0" sldId="261"/>
        </pc:sldMkLst>
      </pc:sldChg>
      <pc:sldMasterChg chg="modTransition modSldLayout">
        <pc:chgData name="Guest User" userId="" providerId="Windows Live" clId="Web-{00000000-0000-0000-0000-000000000000}" dt="2026-09-23T18:22:57.997" v="1"/>
        <pc:sldMasterMkLst>
          <pc:docMk/>
          <pc:sldMasterMk cId="0" sldId="2147483648"/>
        </pc:sldMasterMkLst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Guest User" userId="" providerId="Windows Live" clId="Web-{00000000-0000-0000-0000-000000000000}" dt="2026-09-23T18:22:57.997" v="1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UMAR FAROOK" userId="739779c1dc6863ce" providerId="LiveId" clId="{24839D6D-7CCD-4A64-8928-6F7451A19CE0}"/>
    <pc:docChg chg="undo custSel modSld">
      <pc:chgData name="UMAR FAROOK" userId="739779c1dc6863ce" providerId="LiveId" clId="{24839D6D-7CCD-4A64-8928-6F7451A19CE0}" dt="2026-09-26T03:02:17.991" v="226" actId="113"/>
      <pc:docMkLst>
        <pc:docMk/>
      </pc:docMkLst>
      <pc:sldChg chg="modSp mod">
        <pc:chgData name="UMAR FAROOK" userId="739779c1dc6863ce" providerId="LiveId" clId="{24839D6D-7CCD-4A64-8928-6F7451A19CE0}" dt="2026-09-26T03:02:17.991" v="226" actId="113"/>
        <pc:sldMkLst>
          <pc:docMk/>
          <pc:sldMk cId="0" sldId="256"/>
        </pc:sldMkLst>
        <pc:spChg chg="mod">
          <ac:chgData name="UMAR FAROOK" userId="739779c1dc6863ce" providerId="LiveId" clId="{24839D6D-7CCD-4A64-8928-6F7451A19CE0}" dt="2026-09-26T03:02:17.991" v="226" actId="113"/>
          <ac:spMkLst>
            <pc:docMk/>
            <pc:sldMk cId="0" sldId="256"/>
            <ac:spMk id="9" creationId="{00000000-0000-0000-0000-000000000000}"/>
          </ac:spMkLst>
        </pc:spChg>
      </pc:sldChg>
      <pc:sldChg chg="addSp delSp modSp mod">
        <pc:chgData name="UMAR FAROOK" userId="739779c1dc6863ce" providerId="LiveId" clId="{24839D6D-7CCD-4A64-8928-6F7451A19CE0}" dt="2026-09-23T18:10:28.864" v="204" actId="20577"/>
        <pc:sldMkLst>
          <pc:docMk/>
          <pc:sldMk cId="0" sldId="258"/>
        </pc:sldMkLst>
        <pc:spChg chg="add mod">
          <ac:chgData name="UMAR FAROOK" userId="739779c1dc6863ce" providerId="LiveId" clId="{24839D6D-7CCD-4A64-8928-6F7451A19CE0}" dt="2026-09-23T18:09:54.138" v="186" actId="255"/>
          <ac:spMkLst>
            <pc:docMk/>
            <pc:sldMk cId="0" sldId="258"/>
            <ac:spMk id="13" creationId="{BBECB786-F5C3-1BFC-2DA9-1DA5C23D1CBB}"/>
          </ac:spMkLst>
        </pc:spChg>
        <pc:spChg chg="add mod">
          <ac:chgData name="UMAR FAROOK" userId="739779c1dc6863ce" providerId="LiveId" clId="{24839D6D-7CCD-4A64-8928-6F7451A19CE0}" dt="2026-09-23T18:10:28.864" v="204" actId="20577"/>
          <ac:spMkLst>
            <pc:docMk/>
            <pc:sldMk cId="0" sldId="258"/>
            <ac:spMk id="21" creationId="{D100EA45-C005-141E-EFFF-695AB9A4F2EC}"/>
          </ac:spMkLst>
        </pc:spChg>
        <pc:spChg chg="mod">
          <ac:chgData name="UMAR FAROOK" userId="739779c1dc6863ce" providerId="LiveId" clId="{24839D6D-7CCD-4A64-8928-6F7451A19CE0}" dt="2026-09-23T18:05:05.778" v="147" actId="1076"/>
          <ac:spMkLst>
            <pc:docMk/>
            <pc:sldMk cId="0" sldId="258"/>
            <ac:spMk id="43" creationId="{00000000-0000-0000-0000-000000000000}"/>
          </ac:spMkLst>
        </pc:spChg>
      </pc:sldChg>
      <pc:sldChg chg="addSp delSp modSp mod">
        <pc:chgData name="UMAR FAROOK" userId="739779c1dc6863ce" providerId="LiveId" clId="{24839D6D-7CCD-4A64-8928-6F7451A19CE0}" dt="2026-09-23T17:01:44.449" v="132" actId="1076"/>
        <pc:sldMkLst>
          <pc:docMk/>
          <pc:sldMk cId="0" sldId="261"/>
        </pc:sldMkLst>
        <pc:spChg chg="add mod">
          <ac:chgData name="UMAR FAROOK" userId="739779c1dc6863ce" providerId="LiveId" clId="{24839D6D-7CCD-4A64-8928-6F7451A19CE0}" dt="2026-09-23T17:01:29.154" v="130" actId="1035"/>
          <ac:spMkLst>
            <pc:docMk/>
            <pc:sldMk cId="0" sldId="261"/>
            <ac:spMk id="29" creationId="{2C4066A5-EC89-2266-53CF-8CBE6B2E5B9C}"/>
          </ac:spMkLst>
        </pc:spChg>
        <pc:picChg chg="add mod">
          <ac:chgData name="UMAR FAROOK" userId="739779c1dc6863ce" providerId="LiveId" clId="{24839D6D-7CCD-4A64-8928-6F7451A19CE0}" dt="2026-09-23T17:01:44.449" v="132" actId="1076"/>
          <ac:picMkLst>
            <pc:docMk/>
            <pc:sldMk cId="0" sldId="261"/>
            <ac:picMk id="11" creationId="{C7398BC9-AEEF-CF07-2CA6-4C58A731D2D4}"/>
          </ac:picMkLst>
        </pc:picChg>
        <pc:cxnChg chg="add mod">
          <ac:chgData name="UMAR FAROOK" userId="739779c1dc6863ce" providerId="LiveId" clId="{24839D6D-7CCD-4A64-8928-6F7451A19CE0}" dt="2026-09-23T17:00:24.015" v="75" actId="13822"/>
          <ac:cxnSpMkLst>
            <pc:docMk/>
            <pc:sldMk cId="0" sldId="261"/>
            <ac:cxnSpMk id="23" creationId="{28A40B5C-36A4-1630-89F1-9ED688E8F5D3}"/>
          </ac:cxnSpMkLst>
        </pc:cxn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#1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#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tNode1NoLn">
    <dgm:fillClrLst meth="repeat">
      <a:schemeClr val="accent1">
        <a:tint val="75000"/>
      </a:schemeClr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NoLn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revTxLt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86B22EB-4DDA-4FBD-9514-87953B1907EF}" type="doc">
      <dgm:prSet loTypeId="urn:microsoft.com/office/officeart/2005/8/layout/vList2#1" loCatId="list" qsTypeId="urn:microsoft.com/office/officeart/2005/8/quickstyle/simple1#1" qsCatId="simple" csTypeId="urn:microsoft.com/office/officeart/2005/8/colors/accent1_2#1" csCatId="accent1"/>
      <dgm:spPr/>
      <dgm:t>
        <a:bodyPr/>
        <a:lstStyle/>
        <a:p>
          <a:endParaRPr lang="en-IN"/>
        </a:p>
      </dgm:t>
    </dgm:pt>
    <dgm:pt modelId="{A872D19C-103B-4B91-A94F-7C167C8C35FA}">
      <dgm:prSet/>
      <dgm:spPr/>
      <dgm:t>
        <a:bodyPr/>
        <a:lstStyle/>
        <a:p>
          <a:r>
            <a:rPr lang="en-US"/>
            <a:t>Uses commonly available web/mobile technologies, databases and APIs.</a:t>
          </a:r>
          <a:endParaRPr lang="en-IN"/>
        </a:p>
      </dgm:t>
    </dgm:pt>
    <dgm:pt modelId="{8A0E76B5-B150-4270-9766-A105FEC839B0}" type="parTrans" cxnId="{DF32BA6C-155F-494A-BBD4-CDF424798AD4}">
      <dgm:prSet/>
      <dgm:spPr/>
      <dgm:t>
        <a:bodyPr/>
        <a:lstStyle/>
        <a:p>
          <a:endParaRPr lang="en-IN"/>
        </a:p>
      </dgm:t>
    </dgm:pt>
    <dgm:pt modelId="{43ACAE54-2978-4243-8C44-6F0EDE28F8FF}" type="sibTrans" cxnId="{DF32BA6C-155F-494A-BBD4-CDF424798AD4}">
      <dgm:prSet/>
      <dgm:spPr/>
      <dgm:t>
        <a:bodyPr/>
        <a:lstStyle/>
        <a:p>
          <a:endParaRPr lang="en-IN"/>
        </a:p>
      </dgm:t>
    </dgm:pt>
    <dgm:pt modelId="{6AAAA086-E317-4C57-B38A-9B7886BF8FE4}">
      <dgm:prSet/>
      <dgm:spPr/>
      <dgm:t>
        <a:bodyPr/>
        <a:lstStyle/>
        <a:p>
          <a:r>
            <a:rPr lang="en-US"/>
            <a:t>The system can be connected with existing scholarship and digital-document services.</a:t>
          </a:r>
          <a:endParaRPr lang="en-IN"/>
        </a:p>
      </dgm:t>
    </dgm:pt>
    <dgm:pt modelId="{9DC5EBB4-A72C-4C41-80C2-1C61D669A47E}" type="parTrans" cxnId="{7817C646-7163-43F9-ADE2-630F54BA0DBC}">
      <dgm:prSet/>
      <dgm:spPr/>
      <dgm:t>
        <a:bodyPr/>
        <a:lstStyle/>
        <a:p>
          <a:endParaRPr lang="en-IN"/>
        </a:p>
      </dgm:t>
    </dgm:pt>
    <dgm:pt modelId="{E127DC83-B604-4FA3-B75F-37B8D3606441}" type="sibTrans" cxnId="{7817C646-7163-43F9-ADE2-630F54BA0DBC}">
      <dgm:prSet/>
      <dgm:spPr/>
      <dgm:t>
        <a:bodyPr/>
        <a:lstStyle/>
        <a:p>
          <a:endParaRPr lang="en-IN"/>
        </a:p>
      </dgm:t>
    </dgm:pt>
    <dgm:pt modelId="{CFE5D97F-BBF7-499B-B153-AB8F2A13C2C9}">
      <dgm:prSet/>
      <dgm:spPr/>
      <dgm:t>
        <a:bodyPr/>
        <a:lstStyle/>
        <a:p>
          <a:r>
            <a:rPr lang="en-US"/>
            <a:t>Student information and documents can be stored and managed securely.</a:t>
          </a:r>
          <a:endParaRPr lang="en-IN"/>
        </a:p>
      </dgm:t>
    </dgm:pt>
    <dgm:pt modelId="{8E721271-348F-40DC-89DC-D919556F5A76}" type="parTrans" cxnId="{A77370CA-4D92-4E62-B72A-6F950ACF46DC}">
      <dgm:prSet/>
      <dgm:spPr/>
      <dgm:t>
        <a:bodyPr/>
        <a:lstStyle/>
        <a:p>
          <a:endParaRPr lang="en-IN"/>
        </a:p>
      </dgm:t>
    </dgm:pt>
    <dgm:pt modelId="{496688DE-6A1C-42CD-9FA0-A325124E88A1}" type="sibTrans" cxnId="{A77370CA-4D92-4E62-B72A-6F950ACF46DC}">
      <dgm:prSet/>
      <dgm:spPr/>
      <dgm:t>
        <a:bodyPr/>
        <a:lstStyle/>
        <a:p>
          <a:endParaRPr lang="en-IN"/>
        </a:p>
      </dgm:t>
    </dgm:pt>
    <dgm:pt modelId="{F44C8079-EBD8-4A1E-BC53-9447F32DBABE}" type="pres">
      <dgm:prSet presAssocID="{086B22EB-4DDA-4FBD-9514-87953B1907EF}" presName="linear" presStyleCnt="0">
        <dgm:presLayoutVars>
          <dgm:animLvl val="lvl"/>
          <dgm:resizeHandles val="exact"/>
        </dgm:presLayoutVars>
      </dgm:prSet>
      <dgm:spPr/>
    </dgm:pt>
    <dgm:pt modelId="{564C056C-27C3-40EC-8113-5D33CC4144C4}" type="pres">
      <dgm:prSet presAssocID="{A872D19C-103B-4B91-A94F-7C167C8C35FA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174E8498-F448-4BCE-81E9-9A1273AFF1C2}" type="pres">
      <dgm:prSet presAssocID="{43ACAE54-2978-4243-8C44-6F0EDE28F8FF}" presName="spacer" presStyleCnt="0"/>
      <dgm:spPr/>
    </dgm:pt>
    <dgm:pt modelId="{9F722B12-99F6-4A60-A43C-D5B09B7F60EE}" type="pres">
      <dgm:prSet presAssocID="{6AAAA086-E317-4C57-B38A-9B7886BF8FE4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C6465971-ED72-402E-AFD9-21AA3E50BE9C}" type="pres">
      <dgm:prSet presAssocID="{E127DC83-B604-4FA3-B75F-37B8D3606441}" presName="spacer" presStyleCnt="0"/>
      <dgm:spPr/>
    </dgm:pt>
    <dgm:pt modelId="{0039B57D-9E69-49A5-A40B-2D640A12CCD9}" type="pres">
      <dgm:prSet presAssocID="{CFE5D97F-BBF7-499B-B153-AB8F2A13C2C9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86880A2D-0956-422F-A45C-B4EE81DDC010}" type="presOf" srcId="{6AAAA086-E317-4C57-B38A-9B7886BF8FE4}" destId="{9F722B12-99F6-4A60-A43C-D5B09B7F60EE}" srcOrd="0" destOrd="0" presId="urn:microsoft.com/office/officeart/2005/8/layout/vList2#1"/>
    <dgm:cxn modelId="{C21D0063-FD61-4B83-8995-EE04D9CA0498}" type="presOf" srcId="{CFE5D97F-BBF7-499B-B153-AB8F2A13C2C9}" destId="{0039B57D-9E69-49A5-A40B-2D640A12CCD9}" srcOrd="0" destOrd="0" presId="urn:microsoft.com/office/officeart/2005/8/layout/vList2#1"/>
    <dgm:cxn modelId="{4BECA965-9411-471D-9934-3BE93D4F6E86}" type="presOf" srcId="{086B22EB-4DDA-4FBD-9514-87953B1907EF}" destId="{F44C8079-EBD8-4A1E-BC53-9447F32DBABE}" srcOrd="0" destOrd="0" presId="urn:microsoft.com/office/officeart/2005/8/layout/vList2#1"/>
    <dgm:cxn modelId="{7817C646-7163-43F9-ADE2-630F54BA0DBC}" srcId="{086B22EB-4DDA-4FBD-9514-87953B1907EF}" destId="{6AAAA086-E317-4C57-B38A-9B7886BF8FE4}" srcOrd="1" destOrd="0" parTransId="{9DC5EBB4-A72C-4C41-80C2-1C61D669A47E}" sibTransId="{E127DC83-B604-4FA3-B75F-37B8D3606441}"/>
    <dgm:cxn modelId="{DF32BA6C-155F-494A-BBD4-CDF424798AD4}" srcId="{086B22EB-4DDA-4FBD-9514-87953B1907EF}" destId="{A872D19C-103B-4B91-A94F-7C167C8C35FA}" srcOrd="0" destOrd="0" parTransId="{8A0E76B5-B150-4270-9766-A105FEC839B0}" sibTransId="{43ACAE54-2978-4243-8C44-6F0EDE28F8FF}"/>
    <dgm:cxn modelId="{7A57299A-B68D-4842-ACFB-56467FF7D5D9}" type="presOf" srcId="{A872D19C-103B-4B91-A94F-7C167C8C35FA}" destId="{564C056C-27C3-40EC-8113-5D33CC4144C4}" srcOrd="0" destOrd="0" presId="urn:microsoft.com/office/officeart/2005/8/layout/vList2#1"/>
    <dgm:cxn modelId="{A77370CA-4D92-4E62-B72A-6F950ACF46DC}" srcId="{086B22EB-4DDA-4FBD-9514-87953B1907EF}" destId="{CFE5D97F-BBF7-499B-B153-AB8F2A13C2C9}" srcOrd="2" destOrd="0" parTransId="{8E721271-348F-40DC-89DC-D919556F5A76}" sibTransId="{496688DE-6A1C-42CD-9FA0-A325124E88A1}"/>
    <dgm:cxn modelId="{FF0546D0-7C13-4C4C-A708-0AED35AE8A43}" type="presParOf" srcId="{F44C8079-EBD8-4A1E-BC53-9447F32DBABE}" destId="{564C056C-27C3-40EC-8113-5D33CC4144C4}" srcOrd="0" destOrd="0" presId="urn:microsoft.com/office/officeart/2005/8/layout/vList2#1"/>
    <dgm:cxn modelId="{3E3C346A-FE78-4F9D-BCA2-C166CBCB4CEB}" type="presParOf" srcId="{F44C8079-EBD8-4A1E-BC53-9447F32DBABE}" destId="{174E8498-F448-4BCE-81E9-9A1273AFF1C2}" srcOrd="1" destOrd="0" presId="urn:microsoft.com/office/officeart/2005/8/layout/vList2#1"/>
    <dgm:cxn modelId="{8F26763D-EF96-4D59-B298-B8B1BA430752}" type="presParOf" srcId="{F44C8079-EBD8-4A1E-BC53-9447F32DBABE}" destId="{9F722B12-99F6-4A60-A43C-D5B09B7F60EE}" srcOrd="2" destOrd="0" presId="urn:microsoft.com/office/officeart/2005/8/layout/vList2#1"/>
    <dgm:cxn modelId="{FCBB230B-CC95-4326-81D6-26B001DB1FA7}" type="presParOf" srcId="{F44C8079-EBD8-4A1E-BC53-9447F32DBABE}" destId="{C6465971-ED72-402E-AFD9-21AA3E50BE9C}" srcOrd="3" destOrd="0" presId="urn:microsoft.com/office/officeart/2005/8/layout/vList2#1"/>
    <dgm:cxn modelId="{4C6EDE0D-6E22-467C-AB8B-BDD5EC9E3842}" type="presParOf" srcId="{F44C8079-EBD8-4A1E-BC53-9447F32DBABE}" destId="{0039B57D-9E69-49A5-A40B-2D640A12CCD9}" srcOrd="4" destOrd="0" presId="urn:microsoft.com/office/officeart/2005/8/layout/vList2#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70A4BD5-4366-4BE0-9E6F-81BF7C3659FB}" type="doc">
      <dgm:prSet loTypeId="urn:microsoft.com/office/officeart/2005/8/layout/hProcess9#1" loCatId="process" qsTypeId="urn:microsoft.com/office/officeart/2005/8/quickstyle/simple3#1" qsCatId="simple" csTypeId="urn:microsoft.com/office/officeart/2005/8/colors/accent1_2#2" csCatId="accent1"/>
      <dgm:spPr/>
      <dgm:t>
        <a:bodyPr/>
        <a:lstStyle/>
        <a:p>
          <a:endParaRPr lang="en-IN"/>
        </a:p>
      </dgm:t>
    </dgm:pt>
    <dgm:pt modelId="{377C624B-A35E-4907-9A81-4971A249D50D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/>
            <a:t>Phase 1 — Build:</a:t>
          </a:r>
          <a:r>
            <a:rPr lang="en-US" sz="1800"/>
            <a:t> Develop the student profile, scholarship search, document management and application tracking.</a:t>
          </a:r>
          <a:endParaRPr lang="en-IN" sz="1800"/>
        </a:p>
      </dgm:t>
    </dgm:pt>
    <dgm:pt modelId="{A9E43FB4-2825-445B-94CB-472D305A291C}" type="parTrans" cxnId="{E4966877-F023-46E3-B348-15F78BB0C354}">
      <dgm:prSet/>
      <dgm:spPr/>
      <dgm:t>
        <a:bodyPr/>
        <a:lstStyle/>
        <a:p>
          <a:endParaRPr lang="en-IN"/>
        </a:p>
      </dgm:t>
    </dgm:pt>
    <dgm:pt modelId="{20C41672-086E-441F-8E65-7E897F68E7F1}" type="sibTrans" cxnId="{E4966877-F023-46E3-B348-15F78BB0C354}">
      <dgm:prSet/>
      <dgm:spPr/>
      <dgm:t>
        <a:bodyPr/>
        <a:lstStyle/>
        <a:p>
          <a:endParaRPr lang="en-IN"/>
        </a:p>
      </dgm:t>
    </dgm:pt>
    <dgm:pt modelId="{F497C0B4-DB41-47AC-A759-3A455D4D4142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900" b="1"/>
            <a:t>Phase 2 — Integrate:</a:t>
          </a:r>
          <a:r>
            <a:rPr lang="en-US" sz="1900"/>
            <a:t> Connect with relevant government services and verification systems through authorized APIs.</a:t>
          </a:r>
          <a:endParaRPr lang="en-IN" sz="1900"/>
        </a:p>
      </dgm:t>
    </dgm:pt>
    <dgm:pt modelId="{A499AB24-282B-4268-AFDA-B55C05492F28}" type="parTrans" cxnId="{06B3DE40-6374-418D-983C-E33F325BE6C1}">
      <dgm:prSet/>
      <dgm:spPr/>
      <dgm:t>
        <a:bodyPr/>
        <a:lstStyle/>
        <a:p>
          <a:endParaRPr lang="en-IN"/>
        </a:p>
      </dgm:t>
    </dgm:pt>
    <dgm:pt modelId="{304912FC-7DF9-4658-8575-5655FA72878D}" type="sibTrans" cxnId="{06B3DE40-6374-418D-983C-E33F325BE6C1}">
      <dgm:prSet/>
      <dgm:spPr/>
      <dgm:t>
        <a:bodyPr/>
        <a:lstStyle/>
        <a:p>
          <a:endParaRPr lang="en-IN"/>
        </a:p>
      </dgm:t>
    </dgm:pt>
    <dgm:pt modelId="{0206FB3B-459E-454F-A4F8-52F1E8E625A1}">
      <dgm:prSet phldr="0" custT="1"/>
      <dgm:spPr/>
      <dgm:t>
        <a:bodyPr vert="horz" wrap="square"/>
        <a:lstStyle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1800" b="1"/>
            <a:t>Phase 3 — Test &amp; Deploy: </a:t>
          </a:r>
          <a:r>
            <a:rPr lang="en-US" sz="1800"/>
            <a:t>Test with students and institutions, fix issues, and gradually expand the platform.</a:t>
          </a:r>
          <a:endParaRPr lang="en-IN" sz="1800"/>
        </a:p>
      </dgm:t>
    </dgm:pt>
    <dgm:pt modelId="{84BFBC36-E423-44D6-AB0F-AFFBF0BA1459}" type="parTrans" cxnId="{6386D277-615B-4436-8A1B-DBEAD2A4082A}">
      <dgm:prSet/>
      <dgm:spPr/>
      <dgm:t>
        <a:bodyPr/>
        <a:lstStyle/>
        <a:p>
          <a:endParaRPr lang="en-IN"/>
        </a:p>
      </dgm:t>
    </dgm:pt>
    <dgm:pt modelId="{C6DEFF5C-87D5-4C51-AA3D-824EAE863DDA}" type="sibTrans" cxnId="{6386D277-615B-4436-8A1B-DBEAD2A4082A}">
      <dgm:prSet/>
      <dgm:spPr/>
      <dgm:t>
        <a:bodyPr/>
        <a:lstStyle/>
        <a:p>
          <a:endParaRPr lang="en-IN"/>
        </a:p>
      </dgm:t>
    </dgm:pt>
    <dgm:pt modelId="{D3CFB4EA-3950-41D9-A5B6-9DF98EB9AC33}" type="pres">
      <dgm:prSet presAssocID="{170A4BD5-4366-4BE0-9E6F-81BF7C3659FB}" presName="CompostProcess" presStyleCnt="0">
        <dgm:presLayoutVars>
          <dgm:dir/>
          <dgm:resizeHandles val="exact"/>
        </dgm:presLayoutVars>
      </dgm:prSet>
      <dgm:spPr/>
    </dgm:pt>
    <dgm:pt modelId="{C1246DAA-C364-48D2-BB0F-DE2A58C70BF1}" type="pres">
      <dgm:prSet presAssocID="{170A4BD5-4366-4BE0-9E6F-81BF7C3659FB}" presName="arrow" presStyleLbl="bgShp" presStyleIdx="0" presStyleCnt="1"/>
      <dgm:spPr/>
    </dgm:pt>
    <dgm:pt modelId="{138F3A46-A6FD-4CA3-8952-78BEF2126F42}" type="pres">
      <dgm:prSet presAssocID="{170A4BD5-4366-4BE0-9E6F-81BF7C3659FB}" presName="linearProcess" presStyleCnt="0"/>
      <dgm:spPr/>
    </dgm:pt>
    <dgm:pt modelId="{62DE231D-1BD3-4DDD-BAC8-4B162AD70EC5}" type="pres">
      <dgm:prSet presAssocID="{377C624B-A35E-4907-9A81-4971A249D50D}" presName="textNode" presStyleLbl="node1" presStyleIdx="0" presStyleCnt="3">
        <dgm:presLayoutVars>
          <dgm:bulletEnabled val="1"/>
        </dgm:presLayoutVars>
      </dgm:prSet>
      <dgm:spPr/>
    </dgm:pt>
    <dgm:pt modelId="{75F025D3-3757-4FAA-B656-0E296FB857A8}" type="pres">
      <dgm:prSet presAssocID="{20C41672-086E-441F-8E65-7E897F68E7F1}" presName="sibTrans" presStyleCnt="0"/>
      <dgm:spPr/>
    </dgm:pt>
    <dgm:pt modelId="{ABED8261-BB96-4425-89C1-3D7E2E4C64D1}" type="pres">
      <dgm:prSet presAssocID="{F497C0B4-DB41-47AC-A759-3A455D4D4142}" presName="textNode" presStyleLbl="node1" presStyleIdx="1" presStyleCnt="3">
        <dgm:presLayoutVars>
          <dgm:bulletEnabled val="1"/>
        </dgm:presLayoutVars>
      </dgm:prSet>
      <dgm:spPr/>
    </dgm:pt>
    <dgm:pt modelId="{6388294B-B479-4533-8792-58494D8B2616}" type="pres">
      <dgm:prSet presAssocID="{304912FC-7DF9-4658-8575-5655FA72878D}" presName="sibTrans" presStyleCnt="0"/>
      <dgm:spPr/>
    </dgm:pt>
    <dgm:pt modelId="{DE477265-68E4-446D-B897-56BD2F1FED46}" type="pres">
      <dgm:prSet presAssocID="{0206FB3B-459E-454F-A4F8-52F1E8E625A1}" presName="textNode" presStyleLbl="node1" presStyleIdx="2" presStyleCnt="3">
        <dgm:presLayoutVars>
          <dgm:bulletEnabled val="1"/>
        </dgm:presLayoutVars>
      </dgm:prSet>
      <dgm:spPr/>
    </dgm:pt>
  </dgm:ptLst>
  <dgm:cxnLst>
    <dgm:cxn modelId="{4C1AE40C-28B7-43CF-9301-494C55B9E0BE}" type="presOf" srcId="{170A4BD5-4366-4BE0-9E6F-81BF7C3659FB}" destId="{D3CFB4EA-3950-41D9-A5B6-9DF98EB9AC33}" srcOrd="0" destOrd="0" presId="urn:microsoft.com/office/officeart/2005/8/layout/hProcess9#1"/>
    <dgm:cxn modelId="{06B3DE40-6374-418D-983C-E33F325BE6C1}" srcId="{170A4BD5-4366-4BE0-9E6F-81BF7C3659FB}" destId="{F497C0B4-DB41-47AC-A759-3A455D4D4142}" srcOrd="1" destOrd="0" parTransId="{A499AB24-282B-4268-AFDA-B55C05492F28}" sibTransId="{304912FC-7DF9-4658-8575-5655FA72878D}"/>
    <dgm:cxn modelId="{78EAED6A-D5DD-4C3D-99BC-3F3860D808A2}" type="presOf" srcId="{0206FB3B-459E-454F-A4F8-52F1E8E625A1}" destId="{DE477265-68E4-446D-B897-56BD2F1FED46}" srcOrd="0" destOrd="0" presId="urn:microsoft.com/office/officeart/2005/8/layout/hProcess9#1"/>
    <dgm:cxn modelId="{E4966877-F023-46E3-B348-15F78BB0C354}" srcId="{170A4BD5-4366-4BE0-9E6F-81BF7C3659FB}" destId="{377C624B-A35E-4907-9A81-4971A249D50D}" srcOrd="0" destOrd="0" parTransId="{A9E43FB4-2825-445B-94CB-472D305A291C}" sibTransId="{20C41672-086E-441F-8E65-7E897F68E7F1}"/>
    <dgm:cxn modelId="{6386D277-615B-4436-8A1B-DBEAD2A4082A}" srcId="{170A4BD5-4366-4BE0-9E6F-81BF7C3659FB}" destId="{0206FB3B-459E-454F-A4F8-52F1E8E625A1}" srcOrd="2" destOrd="0" parTransId="{84BFBC36-E423-44D6-AB0F-AFFBF0BA1459}" sibTransId="{C6DEFF5C-87D5-4C51-AA3D-824EAE863DDA}"/>
    <dgm:cxn modelId="{03F884C8-B929-4020-AC46-35A07D8DC2F2}" type="presOf" srcId="{377C624B-A35E-4907-9A81-4971A249D50D}" destId="{62DE231D-1BD3-4DDD-BAC8-4B162AD70EC5}" srcOrd="0" destOrd="0" presId="urn:microsoft.com/office/officeart/2005/8/layout/hProcess9#1"/>
    <dgm:cxn modelId="{245562FC-8995-4BDF-B4E0-9F960D5A5BB6}" type="presOf" srcId="{F497C0B4-DB41-47AC-A759-3A455D4D4142}" destId="{ABED8261-BB96-4425-89C1-3D7E2E4C64D1}" srcOrd="0" destOrd="0" presId="urn:microsoft.com/office/officeart/2005/8/layout/hProcess9#1"/>
    <dgm:cxn modelId="{964FA75D-DBF2-4B4F-BB94-C1422CF528D0}" type="presParOf" srcId="{D3CFB4EA-3950-41D9-A5B6-9DF98EB9AC33}" destId="{C1246DAA-C364-48D2-BB0F-DE2A58C70BF1}" srcOrd="0" destOrd="0" presId="urn:microsoft.com/office/officeart/2005/8/layout/hProcess9#1"/>
    <dgm:cxn modelId="{8575B99D-5FF9-4BC4-B95E-2F1A25C15982}" type="presParOf" srcId="{D3CFB4EA-3950-41D9-A5B6-9DF98EB9AC33}" destId="{138F3A46-A6FD-4CA3-8952-78BEF2126F42}" srcOrd="1" destOrd="0" presId="urn:microsoft.com/office/officeart/2005/8/layout/hProcess9#1"/>
    <dgm:cxn modelId="{6D9B8CF9-7B9E-4D0A-B663-FE63958F1EE4}" type="presParOf" srcId="{138F3A46-A6FD-4CA3-8952-78BEF2126F42}" destId="{62DE231D-1BD3-4DDD-BAC8-4B162AD70EC5}" srcOrd="0" destOrd="0" presId="urn:microsoft.com/office/officeart/2005/8/layout/hProcess9#1"/>
    <dgm:cxn modelId="{1D616874-4D34-4C40-8970-5C1E5EF43BF8}" type="presParOf" srcId="{138F3A46-A6FD-4CA3-8952-78BEF2126F42}" destId="{75F025D3-3757-4FAA-B656-0E296FB857A8}" srcOrd="1" destOrd="0" presId="urn:microsoft.com/office/officeart/2005/8/layout/hProcess9#1"/>
    <dgm:cxn modelId="{3BA60A3B-FAB7-4707-B194-B32295319911}" type="presParOf" srcId="{138F3A46-A6FD-4CA3-8952-78BEF2126F42}" destId="{ABED8261-BB96-4425-89C1-3D7E2E4C64D1}" srcOrd="2" destOrd="0" presId="urn:microsoft.com/office/officeart/2005/8/layout/hProcess9#1"/>
    <dgm:cxn modelId="{CD96EDCC-3224-42DD-9816-8F24C252760A}" type="presParOf" srcId="{138F3A46-A6FD-4CA3-8952-78BEF2126F42}" destId="{6388294B-B479-4533-8792-58494D8B2616}" srcOrd="3" destOrd="0" presId="urn:microsoft.com/office/officeart/2005/8/layout/hProcess9#1"/>
    <dgm:cxn modelId="{FAA250F1-AFCA-41A8-859F-CBBFA46D9530}" type="presParOf" srcId="{138F3A46-A6FD-4CA3-8952-78BEF2126F42}" destId="{DE477265-68E4-446D-B897-56BD2F1FED46}" srcOrd="4" destOrd="0" presId="urn:microsoft.com/office/officeart/2005/8/layout/hProcess9#1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64C056C-27C3-40EC-8113-5D33CC4144C4}">
      <dsp:nvSpPr>
        <dsp:cNvPr id="0" name=""/>
        <dsp:cNvSpPr/>
      </dsp:nvSpPr>
      <dsp:spPr bwMode="white">
        <a:xfrm>
          <a:off x="0" y="5928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Uses commonly available web/mobile technologies, databases and APIs.</a:t>
          </a:r>
          <a:endParaRPr lang="en-IN" sz="2100" kern="1200"/>
        </a:p>
      </dsp:txBody>
      <dsp:txXfrm>
        <a:off x="40780" y="100061"/>
        <a:ext cx="7157440" cy="753819"/>
      </dsp:txXfrm>
    </dsp:sp>
    <dsp:sp modelId="{9F722B12-99F6-4A60-A43C-D5B09B7F60EE}">
      <dsp:nvSpPr>
        <dsp:cNvPr id="0" name=""/>
        <dsp:cNvSpPr/>
      </dsp:nvSpPr>
      <dsp:spPr bwMode="white">
        <a:xfrm>
          <a:off x="0" y="95514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The system can be connected with existing scholarship and digital-document services.</a:t>
          </a:r>
          <a:endParaRPr lang="en-IN" sz="2100" kern="1200"/>
        </a:p>
      </dsp:txBody>
      <dsp:txXfrm>
        <a:off x="40780" y="995921"/>
        <a:ext cx="7157440" cy="753819"/>
      </dsp:txXfrm>
    </dsp:sp>
    <dsp:sp modelId="{0039B57D-9E69-49A5-A40B-2D640A12CCD9}">
      <dsp:nvSpPr>
        <dsp:cNvPr id="0" name=""/>
        <dsp:cNvSpPr/>
      </dsp:nvSpPr>
      <dsp:spPr bwMode="white">
        <a:xfrm>
          <a:off x="0" y="1851001"/>
          <a:ext cx="7239000" cy="83537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Student information and documents can be stored and managed securely.</a:t>
          </a:r>
          <a:endParaRPr lang="en-IN" sz="2100" kern="1200"/>
        </a:p>
      </dsp:txBody>
      <dsp:txXfrm>
        <a:off x="40780" y="1891781"/>
        <a:ext cx="7157440" cy="75381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46DAA-C364-48D2-BB0F-DE2A58C70BF1}">
      <dsp:nvSpPr>
        <dsp:cNvPr id="0" name=""/>
        <dsp:cNvSpPr/>
      </dsp:nvSpPr>
      <dsp:spPr>
        <a:xfrm>
          <a:off x="737615" y="0"/>
          <a:ext cx="8359648" cy="4053205"/>
        </a:xfrm>
        <a:prstGeom prst="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/>
      </dsp:style>
    </dsp:sp>
    <dsp:sp modelId="{62DE231D-1BD3-4DDD-BAC8-4B162AD70EC5}">
      <dsp:nvSpPr>
        <dsp:cNvPr id="0" name=""/>
        <dsp:cNvSpPr/>
      </dsp:nvSpPr>
      <dsp:spPr bwMode="white">
        <a:xfrm>
          <a:off x="2883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Phase 1 — Build:</a:t>
          </a:r>
          <a:r>
            <a:rPr lang="en-US" sz="1800" kern="1200"/>
            <a:t> Develop the student profile, scholarship search, document management and application tracking.</a:t>
          </a:r>
          <a:endParaRPr lang="en-IN" sz="1800" kern="1200"/>
        </a:p>
      </dsp:txBody>
      <dsp:txXfrm>
        <a:off x="82027" y="1295105"/>
        <a:ext cx="2843398" cy="1462994"/>
      </dsp:txXfrm>
    </dsp:sp>
    <dsp:sp modelId="{ABED8261-BB96-4425-89C1-3D7E2E4C64D1}">
      <dsp:nvSpPr>
        <dsp:cNvPr id="0" name=""/>
        <dsp:cNvSpPr/>
      </dsp:nvSpPr>
      <dsp:spPr bwMode="white">
        <a:xfrm>
          <a:off x="3416596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Phase 2 — Integrate:</a:t>
          </a:r>
          <a:r>
            <a:rPr lang="en-US" sz="1900" kern="1200"/>
            <a:t> Connect with relevant government services and verification systems through authorized APIs.</a:t>
          </a:r>
          <a:endParaRPr lang="en-IN" sz="1900" kern="1200"/>
        </a:p>
      </dsp:txBody>
      <dsp:txXfrm>
        <a:off x="3495740" y="1295105"/>
        <a:ext cx="2843398" cy="1462994"/>
      </dsp:txXfrm>
    </dsp:sp>
    <dsp:sp modelId="{DE477265-68E4-446D-B897-56BD2F1FED46}">
      <dsp:nvSpPr>
        <dsp:cNvPr id="0" name=""/>
        <dsp:cNvSpPr/>
      </dsp:nvSpPr>
      <dsp:spPr bwMode="white">
        <a:xfrm>
          <a:off x="6830310" y="1215961"/>
          <a:ext cx="3001686" cy="1621282"/>
        </a:xfrm>
        <a:prstGeom prst="round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ctr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Phase 3 — Test &amp; Deploy: </a:t>
          </a:r>
          <a:r>
            <a:rPr lang="en-US" sz="1800" kern="1200"/>
            <a:t>Test with students and institutions, fix issues, and gradually expand the platform.</a:t>
          </a:r>
          <a:endParaRPr lang="en-IN" sz="1800" kern="1200"/>
        </a:p>
      </dsp:txBody>
      <dsp:txXfrm>
        <a:off x="6909454" y="1295105"/>
        <a:ext cx="2843398" cy="14629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#1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9#1">
  <dgm:title val=""/>
  <dgm:desc val=""/>
  <dgm:catLst>
    <dgm:cat type="process" pri="5000"/>
    <dgm:cat type="convert" pri="13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CompostProcess">
    <dgm:varLst>
      <dgm:dir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onstrLst>
      <dgm:constr type="w" for="ch" forName="arrow" refType="w" fact="0.85"/>
      <dgm:constr type="h" for="ch" forName="arrow" refType="h"/>
      <dgm:constr type="ctrX" for="ch" forName="arrow" refType="w" fact="0.5"/>
      <dgm:constr type="ctrY" for="ch" forName="arrow" refType="h" fact="0.5"/>
      <dgm:constr type="w" for="ch" forName="linearProcess" refType="w"/>
      <dgm:constr type="h" for="ch" forName="linearProcess" refType="h" fact="0.4"/>
      <dgm:constr type="ctrX" for="ch" forName="linearProcess" refType="w" fact="0.5"/>
      <dgm:constr type="ctrY" for="ch" forName="linearProcess" refType="h" fact="0.5"/>
    </dgm:constrLst>
    <dgm:ruleLst/>
    <dgm:layoutNode name="arrow" styleLbl="bgShp">
      <dgm:alg type="sp"/>
      <dgm:choose name="Name0">
        <dgm:if name="Name1" func="var" arg="dir" op="equ" val="norm">
          <dgm:shape xmlns:r="http://schemas.openxmlformats.org/officeDocument/2006/relationships" type="rightArrow" r:blip="">
            <dgm:adjLst/>
          </dgm:shape>
        </dgm:if>
        <dgm:else name="Name2">
          <dgm:shape xmlns:r="http://schemas.openxmlformats.org/officeDocument/2006/relationships" type="leftArrow" r:blip="">
            <dgm:adjLst/>
          </dgm:shape>
        </dgm:else>
      </dgm:choose>
      <dgm:presOf/>
      <dgm:constrLst/>
      <dgm:ruleLst/>
    </dgm:layoutNode>
    <dgm:layoutNode name="linearProcess">
      <dgm:choose name="Name3">
        <dgm:if name="Name4" func="var" arg="dir" op="equ" val="norm">
          <dgm:alg type="lin"/>
        </dgm:if>
        <dgm:else name="Name5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userA" for="ch" ptType="node" refType="w"/>
        <dgm:constr type="h" for="ch" ptType="node" refType="h"/>
        <dgm:constr type="w" for="ch" ptType="node" op="equ"/>
        <dgm:constr type="w" for="ch" forName="sibTrans" refType="w" fact="0.05"/>
        <dgm:constr type="primFontSz" for="ch" ptType="node" op="equ" val="65"/>
      </dgm:constrLst>
      <dgm:ruleLst/>
      <dgm:forEach name="Name6" axis="ch" ptType="node">
        <dgm:layoutNode name="text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desOrSelf" ptType="node"/>
          <dgm:constrLst>
            <dgm:constr type="userA"/>
            <dgm:constr type="w" refType="userA" fact="0.3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w" val="NaN" fact="1" max="NaN"/>
            <dgm:rule type="primFontSz" val="5" fact="NaN" max="NaN"/>
          </dgm:ruleLst>
        </dgm:layoutNode>
        <dgm:forEach name="Name7" axis="followSib" ptType="sibTrans" cnt="1">
          <dgm:layoutNode name="sibTrans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t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NoLn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#1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lt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0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NoLn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revTxLt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9/26/2026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hyperlink" Target="https://drive.google.com/file/d/1pxL_2JRJTPklYv-sHMlf5uTlirxLH97N/view?usp=drivesdk" TargetMode="Externa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4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jpeg"/><Relationship Id="rId4" Type="http://schemas.openxmlformats.org/officeDocument/2006/relationships/hyperlink" Target="https://tribal.nic.in/scholarshiP.apsx%0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485165" y="1277283"/>
            <a:ext cx="6957908" cy="7732452"/>
          </a:xfrm>
          <a:custGeom>
            <a:avLst/>
            <a:gdLst/>
            <a:ahLst/>
            <a:cxnLst/>
            <a:rect l="l" t="t" r="r" b="b"/>
            <a:pathLst>
              <a:path w="6957908" h="7732452">
                <a:moveTo>
                  <a:pt x="0" y="0"/>
                </a:moveTo>
                <a:lnTo>
                  <a:pt x="6957908" y="0"/>
                </a:lnTo>
                <a:lnTo>
                  <a:pt x="6957908" y="7732453"/>
                </a:lnTo>
                <a:lnTo>
                  <a:pt x="0" y="773245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3" name="Group 3"/>
          <p:cNvGrpSpPr/>
          <p:nvPr/>
        </p:nvGrpSpPr>
        <p:grpSpPr>
          <a:xfrm>
            <a:off x="10282333" y="2573817"/>
            <a:ext cx="4805267" cy="5139357"/>
            <a:chOff x="0" y="0"/>
            <a:chExt cx="6407023" cy="6852476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6407023" cy="6852412"/>
            </a:xfrm>
            <a:custGeom>
              <a:avLst/>
              <a:gdLst/>
              <a:ahLst/>
              <a:cxnLst/>
              <a:rect l="l" t="t" r="r" b="b"/>
              <a:pathLst>
                <a:path w="6407023" h="6852412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alphaModFix amt="25000"/>
              </a:blip>
              <a:stretch>
                <a:fillRect r="-149475" b="-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959969" y="990067"/>
            <a:ext cx="12618720" cy="25660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760"/>
              </a:lnSpc>
            </a:pPr>
            <a:endParaRPr/>
          </a:p>
          <a:p>
            <a:pPr algn="ctr">
              <a:lnSpc>
                <a:spcPts val="5760"/>
              </a:lnSpc>
            </a:pPr>
            <a:r>
              <a:rPr lang="en-US" sz="4800" b="1">
                <a:solidFill>
                  <a:srgbClr val="000000"/>
                </a:solidFill>
                <a:latin typeface="Times New Roman Bold" panose="02020803070505020304"/>
                <a:ea typeface="Times New Roman Bold" panose="02020803070505020304"/>
                <a:cs typeface="Times New Roman Bold" panose="02020803070505020304"/>
                <a:sym typeface="Times New Roman Bold" panose="02020803070505020304"/>
              </a:rPr>
              <a:t>TITLE PAGE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496929" y="-790137"/>
            <a:ext cx="15544800" cy="2657037"/>
            <a:chOff x="0" y="0"/>
            <a:chExt cx="20726400" cy="41529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0726400" cy="4152900"/>
            </a:xfrm>
            <a:custGeom>
              <a:avLst/>
              <a:gdLst/>
              <a:ahLst/>
              <a:cxnLst/>
              <a:rect l="l" t="t" r="r" b="b"/>
              <a:pathLst>
                <a:path w="20726400" h="41529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4">
                <a:alphaModFix amt="0"/>
              </a:blip>
              <a:stretch>
                <a:fillRect t="-47246" b="-4724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7200"/>
                </a:lnSpc>
              </a:pPr>
              <a:r>
                <a:rPr lang="en-US" sz="6000" b="1">
                  <a:solidFill>
                    <a:srgbClr val="1F497D"/>
                  </a:solidFill>
                  <a:latin typeface="Garamond Bold" panose="02020804030307010803"/>
                  <a:ea typeface="Garamond Bold" panose="02020804030307010803"/>
                  <a:cs typeface="Garamond Bold" panose="02020804030307010803"/>
                  <a:sym typeface="Garamond Bold" panose="02020804030307010803"/>
                </a:rPr>
                <a:t>SMART INDIA HACKATHON 2026</a:t>
              </a:r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0" y="2171506"/>
            <a:ext cx="18044931" cy="685206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320"/>
              </a:lnSpc>
            </a:pPr>
            <a:endParaRPr/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Problem Statement ID – 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26238</a:t>
            </a: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Problem Statement Title - 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Unified Scholarship Mobile Application for Tribal Students</a:t>
            </a: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Theme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- Smart Automation</a:t>
            </a: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PS Category- 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Software</a:t>
            </a: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Team ID -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DCSIH1141</a:t>
            </a:r>
            <a:endParaRPr lang="en-US" altLang="en-US" sz="3500">
              <a:solidFill>
                <a:srgbClr val="00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 Bold" panose="020B0704020202020204"/>
            </a:endParaRPr>
          </a:p>
          <a:p>
            <a:pPr marL="633730" lvl="1" indent="-316865" algn="just">
              <a:lnSpc>
                <a:spcPts val="8400"/>
              </a:lnSpc>
              <a:buFont typeface="Arial" panose="020B0604020202020204"/>
              <a:buChar char="•"/>
            </a:pPr>
            <a:r>
              <a:rPr lang="en-US" sz="3500" b="1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Team Name </a:t>
            </a:r>
            <a:r>
              <a:rPr lang="en-US" sz="35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old" panose="020B0704020202020204"/>
              </a:rPr>
              <a:t>- INFINOVA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1" name="Freeform 11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Freeform 14" descr="Your startup LOGO"/>
          <p:cNvSpPr/>
          <p:nvPr/>
        </p:nvSpPr>
        <p:spPr>
          <a:xfrm>
            <a:off x="152400" y="342900"/>
            <a:ext cx="2112010" cy="1350645"/>
          </a:xfrm>
          <a:custGeom>
            <a:avLst/>
            <a:gdLst/>
            <a:ahLst/>
            <a:cxnLst/>
            <a:rect l="l" t="t" r="r" b="b"/>
            <a:pathLst>
              <a:path w="2554478" h="1665478">
                <a:moveTo>
                  <a:pt x="0" y="832739"/>
                </a:moveTo>
                <a:cubicBezTo>
                  <a:pt x="0" y="372872"/>
                  <a:pt x="571881" y="0"/>
                  <a:pt x="1277239" y="0"/>
                </a:cubicBezTo>
                <a:cubicBezTo>
                  <a:pt x="1982597" y="0"/>
                  <a:pt x="2554478" y="372872"/>
                  <a:pt x="2554478" y="832739"/>
                </a:cubicBezTo>
                <a:cubicBezTo>
                  <a:pt x="2554478" y="1292606"/>
                  <a:pt x="1982597" y="1665478"/>
                  <a:pt x="1277239" y="1665478"/>
                </a:cubicBezTo>
                <a:cubicBezTo>
                  <a:pt x="571881" y="1665478"/>
                  <a:pt x="0" y="1292606"/>
                  <a:pt x="0" y="832739"/>
                </a:cubicBezTo>
                <a:close/>
              </a:path>
            </a:pathLst>
          </a:custGeom>
          <a:solidFill>
            <a:srgbClr val="FFFFFF"/>
          </a:solidFill>
          <a:ln w="28575" cap="sq">
            <a:solidFill>
              <a:srgbClr val="8064A2"/>
            </a:solidFill>
            <a:prstDash val="solid"/>
            <a:miter/>
          </a:ln>
        </p:spPr>
        <p:txBody>
          <a:bodyPr/>
          <a:lstStyle/>
          <a:p>
            <a:endParaRPr lang="en-IN" sz="2800" b="1"/>
          </a:p>
          <a:p>
            <a:r>
              <a:rPr lang="en-IN" sz="2800" b="1">
                <a:latin typeface="Cambria" panose="02040503050406030204" pitchFamily="18" charset="0"/>
                <a:ea typeface="Cambria" panose="02040503050406030204" pitchFamily="18" charset="0"/>
              </a:rPr>
              <a:t>   INFINOVA</a:t>
            </a:r>
          </a:p>
        </p:txBody>
      </p:sp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" y="-619437"/>
            <a:ext cx="16459200" cy="1767396"/>
            <a:chOff x="0" y="0"/>
            <a:chExt cx="21945600" cy="2356529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356529"/>
            </a:xfrm>
            <a:custGeom>
              <a:avLst/>
              <a:gdLst/>
              <a:ahLst/>
              <a:cxnLst/>
              <a:rect l="l" t="t" r="r" b="b"/>
              <a:pathLst>
                <a:path w="21945600" h="2356529">
                  <a:moveTo>
                    <a:pt x="0" y="0"/>
                  </a:moveTo>
                  <a:lnTo>
                    <a:pt x="21945600" y="0"/>
                  </a:lnTo>
                  <a:lnTo>
                    <a:pt x="21945600" y="2356529"/>
                  </a:lnTo>
                  <a:lnTo>
                    <a:pt x="0" y="235652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2954" b="-129961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38100"/>
              <a:ext cx="21945600" cy="239462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000"/>
                </a:lnSpc>
              </a:pPr>
              <a:endParaRPr/>
            </a:p>
            <a:p>
              <a:pPr algn="ctr">
                <a:lnSpc>
                  <a:spcPts val="6000"/>
                </a:lnSpc>
              </a:pPr>
              <a:r>
                <a:rPr lang="en-US" sz="50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T</a:t>
              </a:r>
              <a:r>
                <a:rPr lang="en-IN" altLang="en-US" sz="50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RIBAL SCHOLAR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2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-914400" y="1900555"/>
            <a:ext cx="9074785" cy="1534795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C</a:t>
            </a:r>
            <a:r>
              <a:rPr lang="en-IN" altLang="en-US" sz="3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HALLENGES AND PROBLEMS</a:t>
            </a:r>
            <a:endParaRPr lang="en-US" sz="3500" b="1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 Bold" panose="020B0803030501040103"/>
              <a:sym typeface="Canva Sans Bold" panose="020B0803030501040103"/>
            </a:endParaRPr>
          </a:p>
          <a:p>
            <a:pPr algn="ctr">
              <a:lnSpc>
                <a:spcPts val="4900"/>
              </a:lnSpc>
            </a:pPr>
            <a:endParaRPr lang="en-US" sz="35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0" name="TextBox 20"/>
          <p:cNvSpPr txBox="1"/>
          <p:nvPr/>
        </p:nvSpPr>
        <p:spPr>
          <a:xfrm>
            <a:off x="10425737" y="1643338"/>
            <a:ext cx="7619166" cy="12017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P</a:t>
            </a:r>
            <a:r>
              <a:rPr lang="en-IN" altLang="en-US" sz="3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ROPOSED SOLUTION AND HOW IT SOLVES THE PROBLEM</a:t>
            </a:r>
            <a:endParaRPr lang="en-US" sz="3500" b="1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22" name="TextBox 22"/>
          <p:cNvSpPr txBox="1"/>
          <p:nvPr/>
        </p:nvSpPr>
        <p:spPr>
          <a:xfrm>
            <a:off x="228600" y="5917565"/>
            <a:ext cx="7406005" cy="70104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IN" altLang="en-US" sz="3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INNOVATIONS AND UNIQUENESS</a:t>
            </a:r>
            <a:endParaRPr lang="en-US" sz="3500" b="1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 Bold" panose="020B0803030501040103"/>
              <a:sym typeface="Canva Sans Bold" panose="020B0803030501040103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381000" y="2781300"/>
            <a:ext cx="7682865" cy="30803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Scholarship information is fragmented across multiple portals/schemes.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Students face repeated form filling and document uploads.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Difficulty in understanding eligibility, deadlines and application status.</a:t>
            </a:r>
            <a:endParaRPr lang="en-US" sz="2400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1000" y="6819900"/>
            <a:ext cx="7132320" cy="2356485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endParaRPr lang="en-US" sz="2500" b="1">
              <a:solidFill>
                <a:srgbClr val="000000"/>
              </a:solidFill>
              <a:latin typeface="Cambria" panose="02040503050406030204" charset="0"/>
              <a:ea typeface="Canva Sans" panose="020B0503030501040103"/>
              <a:cs typeface="Cambria" panose="02040503050406030204" charset="0"/>
              <a:sym typeface="Canva Sans" panose="020B0503030501040103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Smart scholarship matching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Reusable documents &amp; profile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AI-powered assistance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Single application dashboard</a:t>
            </a:r>
          </a:p>
          <a:p>
            <a:pPr algn="ctr">
              <a:lnSpc>
                <a:spcPts val="3500"/>
              </a:lnSpc>
            </a:pPr>
            <a:endParaRPr lang="en-US" sz="2400" b="1">
              <a:solidFill>
                <a:srgbClr val="000000"/>
              </a:solidFill>
              <a:latin typeface="Cambria" panose="02040503050406030204" charset="0"/>
              <a:ea typeface="Canva Sans" panose="020B0503030501040103"/>
              <a:cs typeface="Cambria" panose="02040503050406030204" charset="0"/>
              <a:sym typeface="Canva Sans" panose="020B0503030501040103"/>
            </a:endParaRPr>
          </a:p>
          <a:p>
            <a:pPr algn="ctr"/>
            <a:endParaRPr lang="en-US" sz="2400" b="1">
              <a:latin typeface="Cambria" panose="02040503050406030204" charset="0"/>
              <a:cs typeface="Cambria" panose="02040503050406030204" charset="0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0896600" y="3238500"/>
            <a:ext cx="7010400" cy="5867400"/>
          </a:xfrm>
          <a:prstGeom prst="roundRect">
            <a:avLst/>
          </a:prstGeom>
          <a:solidFill>
            <a:schemeClr val="tx2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One platform for tribal scholarships.</a:t>
            </a: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One student profile with reusable information and documents.</a:t>
            </a: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Find scholarships, apply, and track the application in one place.</a:t>
            </a: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AI assistant for guidance and multilingual support.</a:t>
            </a: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IN" alt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Real-time notifications for deadlines and application updates</a:t>
            </a:r>
          </a:p>
          <a:p>
            <a:pPr marL="518160" lvl="1" indent="-259080" algn="l">
              <a:lnSpc>
                <a:spcPts val="3360"/>
              </a:lnSpc>
              <a:buFont typeface="Arial" panose="020B0604020202020204"/>
              <a:buChar char="•"/>
            </a:pPr>
            <a:r>
              <a:rPr lang="en-IN" altLang="en-US" sz="24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Secured document verification to reduce errors and fraud</a:t>
            </a:r>
            <a:endParaRPr lang="en-US" sz="2400" b="1">
              <a:solidFill>
                <a:srgbClr val="000000"/>
              </a:solidFill>
              <a:latin typeface="Cambria" panose="02040503050406030204" charset="0"/>
              <a:ea typeface="Canva Sans" panose="020B0503030501040103"/>
              <a:cs typeface="Cambria" panose="02040503050406030204" charset="0"/>
              <a:sym typeface="Canva Sans" panose="020B0503030501040103"/>
            </a:endParaRPr>
          </a:p>
          <a:p>
            <a:pPr algn="ctr"/>
            <a:endParaRPr lang="en-US" sz="2400" b="1">
              <a:latin typeface="Cambria" panose="02040503050406030204" charset="0"/>
              <a:cs typeface="Cambria" panose="0204050305040603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TECHNICAL </a:t>
              </a:r>
              <a:r>
                <a:rPr lang="en-IN" alt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 </a:t>
              </a: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APPROACH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05840" y="3827145"/>
            <a:ext cx="13895070" cy="645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60095" lvl="1" indent="-380365" algn="just">
              <a:lnSpc>
                <a:spcPts val="5040"/>
              </a:lnSpc>
              <a:buFont typeface="Arial" panose="020B0604020202020204"/>
              <a:buChar char="•"/>
            </a:pPr>
            <a:endParaRPr lang="en-US" sz="4200">
              <a:solidFill>
                <a:srgbClr val="000000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3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30" name="Rectangle 29"/>
          <p:cNvSpPr/>
          <p:nvPr/>
        </p:nvSpPr>
        <p:spPr>
          <a:xfrm>
            <a:off x="685800" y="4598670"/>
            <a:ext cx="2771140" cy="41414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 sz="22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Flutter</a:t>
            </a:r>
            <a:endParaRPr lang="en-IN" altLang="en-US" sz="24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IN" altLang="en-US" sz="22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Cross-platform</a:t>
            </a: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mobile app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43400" y="4598670"/>
            <a:ext cx="2771140" cy="40652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Node.js+Express</a:t>
            </a:r>
          </a:p>
          <a:p>
            <a:pPr algn="ctr"/>
            <a:endParaRPr lang="en-IN" altLang="en-US"/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Backend &amp;</a:t>
            </a: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APIs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848600" y="4556125"/>
            <a:ext cx="2771140" cy="40563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/>
              <a:t>0</a:t>
            </a:r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/>
          </a:p>
          <a:p>
            <a:pPr algn="ctr"/>
            <a:endParaRPr lang="en-IN" altLang="en-US" sz="22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Firebase/MySQL</a:t>
            </a:r>
          </a:p>
          <a:p>
            <a:pPr algn="ctr"/>
            <a:endParaRPr lang="en-IN" altLang="en-US" sz="22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Secure data</a:t>
            </a: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storage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430000" y="4555490"/>
            <a:ext cx="2771140" cy="405701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Role-basedLogin</a:t>
            </a: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Student &amp;</a:t>
            </a: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Admin access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5011400" y="4581525"/>
            <a:ext cx="2771140" cy="40309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US"/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6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 Real-Time Notification</a:t>
            </a:r>
          </a:p>
          <a:p>
            <a:pPr algn="ctr"/>
            <a:endParaRPr lang="en-IN" altLang="en-US" sz="2600" b="1">
              <a:solidFill>
                <a:schemeClr val="tx1"/>
              </a:soli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IN" altLang="en-US" sz="2200" b="1">
                <a:solidFill>
                  <a:schemeClr val="tx1"/>
                </a:solidFill>
                <a:latin typeface="Cambria" panose="02040503050406030204" charset="0"/>
                <a:cs typeface="Cambria" panose="02040503050406030204" charset="0"/>
              </a:rPr>
              <a:t>Application &amp; status updates</a:t>
            </a:r>
          </a:p>
        </p:txBody>
      </p:sp>
      <p:pic>
        <p:nvPicPr>
          <p:cNvPr id="50" name="Picture 49" descr="databas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7560" y="4991100"/>
            <a:ext cx="1568450" cy="1568450"/>
          </a:xfrm>
          <a:prstGeom prst="rect">
            <a:avLst/>
          </a:prstGeom>
        </p:spPr>
      </p:pic>
      <p:sp>
        <p:nvSpPr>
          <p:cNvPr id="51" name="Top Corners Rounded Rectangle 50"/>
          <p:cNvSpPr/>
          <p:nvPr/>
        </p:nvSpPr>
        <p:spPr>
          <a:xfrm>
            <a:off x="381000" y="2095500"/>
            <a:ext cx="7938770" cy="699770"/>
          </a:xfrm>
          <a:prstGeom prst="round2Same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altLang="en-US" sz="3000" b="1">
                <a:solidFill>
                  <a:schemeClr val="tx2">
                    <a:lumMod val="20000"/>
                    <a:lumOff val="80000"/>
                  </a:schemeClr>
                </a:solidFill>
                <a:latin typeface="Cambria" panose="02040503050406030204" charset="0"/>
                <a:cs typeface="Cambria" panose="02040503050406030204" charset="0"/>
              </a:rPr>
              <a:t>SIMPLE.SECURE.SCALABLE</a:t>
            </a:r>
          </a:p>
        </p:txBody>
      </p:sp>
      <p:pic>
        <p:nvPicPr>
          <p:cNvPr id="55" name="Picture 54" descr="arrow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56055" y="5143500"/>
            <a:ext cx="1484630" cy="1484630"/>
          </a:xfrm>
          <a:prstGeom prst="rect">
            <a:avLst/>
          </a:prstGeom>
        </p:spPr>
      </p:pic>
      <p:pic>
        <p:nvPicPr>
          <p:cNvPr id="56" name="Picture 55" descr="j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81600" y="5123815"/>
            <a:ext cx="1115060" cy="1435735"/>
          </a:xfrm>
          <a:prstGeom prst="rect">
            <a:avLst/>
          </a:prstGeom>
        </p:spPr>
      </p:pic>
      <p:pic>
        <p:nvPicPr>
          <p:cNvPr id="57" name="Picture 56" descr="cyber-security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745595" y="4686300"/>
            <a:ext cx="2188210" cy="2052955"/>
          </a:xfrm>
          <a:prstGeom prst="rect">
            <a:avLst/>
          </a:prstGeom>
        </p:spPr>
      </p:pic>
      <p:pic>
        <p:nvPicPr>
          <p:cNvPr id="58" name="Picture 57" descr="alarm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5434945" y="4678045"/>
            <a:ext cx="1939925" cy="186563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BBECB786-F5C3-1BFC-2DA9-1DA5C23D1CBB}"/>
              </a:ext>
            </a:extLst>
          </p:cNvPr>
          <p:cNvSpPr txBox="1"/>
          <p:nvPr/>
        </p:nvSpPr>
        <p:spPr>
          <a:xfrm>
            <a:off x="13716000" y="2613109"/>
            <a:ext cx="9144000" cy="4770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500" b="1">
                <a:latin typeface="Cambria" panose="02040503050406030204" pitchFamily="18" charset="0"/>
                <a:ea typeface="Cambria" panose="02040503050406030204" pitchFamily="18" charset="0"/>
                <a:hlinkClick r:id="rId9"/>
              </a:rPr>
              <a:t>Click Here </a:t>
            </a:r>
            <a:endParaRPr lang="en-IN" sz="2500" b="1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100EA45-C005-141E-EFFF-695AB9A4F2EC}"/>
              </a:ext>
            </a:extLst>
          </p:cNvPr>
          <p:cNvSpPr txBox="1"/>
          <p:nvPr/>
        </p:nvSpPr>
        <p:spPr>
          <a:xfrm>
            <a:off x="11197450" y="2646868"/>
            <a:ext cx="2454198" cy="40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sz="2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Demo video :</a:t>
            </a:r>
            <a:endParaRPr lang="en-IN" sz="2500" b="1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62000" y="46551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FEASIBILITY AND VIABILITY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4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9" name="TextBox 19"/>
          <p:cNvSpPr txBox="1"/>
          <p:nvPr/>
        </p:nvSpPr>
        <p:spPr>
          <a:xfrm>
            <a:off x="9139238" y="4274503"/>
            <a:ext cx="9525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endParaRPr/>
          </a:p>
        </p:txBody>
      </p:sp>
      <p:sp>
        <p:nvSpPr>
          <p:cNvPr id="20" name="TextBox 20"/>
          <p:cNvSpPr txBox="1"/>
          <p:nvPr/>
        </p:nvSpPr>
        <p:spPr>
          <a:xfrm>
            <a:off x="9139238" y="4819967"/>
            <a:ext cx="9525" cy="5803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60"/>
              </a:lnSpc>
            </a:pPr>
            <a:endParaRPr/>
          </a:p>
        </p:txBody>
      </p:sp>
      <p:sp>
        <p:nvSpPr>
          <p:cNvPr id="21" name="TextBox 21"/>
          <p:cNvSpPr txBox="1"/>
          <p:nvPr/>
        </p:nvSpPr>
        <p:spPr>
          <a:xfrm>
            <a:off x="75565" y="1737995"/>
            <a:ext cx="6814820" cy="768350"/>
          </a:xfrm>
          <a:prstGeom prst="rect">
            <a:avLst/>
          </a:prstGeom>
        </p:spPr>
        <p:txBody>
          <a:bodyPr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IN" alt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TECHNICAL FEASIBILITY</a:t>
            </a:r>
            <a:r>
              <a:rPr lang="en-US" altLang="en-US" sz="3200" b="1">
                <a:solidFill>
                  <a:srgbClr val="000000"/>
                </a:solidFill>
                <a:latin typeface="Canva Sans Bold" panose="020B0803030501040103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:</a:t>
            </a:r>
            <a:endParaRPr lang="en-US" sz="3200" b="1">
              <a:solidFill>
                <a:srgbClr val="000000"/>
              </a:solidFill>
              <a:latin typeface="Canva Sans Bold" panose="020B0803030501040103"/>
              <a:ea typeface="Canva Sans Bold" panose="020B0803030501040103"/>
              <a:cs typeface="Canva Sans Bold" panose="020B0803030501040103"/>
              <a:sym typeface="Canva Sans Bold" panose="020B0803030501040103"/>
            </a:endParaRPr>
          </a:p>
        </p:txBody>
      </p:sp>
      <p:graphicFrame>
        <p:nvGraphicFramePr>
          <p:cNvPr id="26" name="Diagram 25"/>
          <p:cNvGraphicFramePr/>
          <p:nvPr/>
        </p:nvGraphicFramePr>
        <p:xfrm>
          <a:off x="304801" y="2432729"/>
          <a:ext cx="7239000" cy="27456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3" name="TextBox 23"/>
          <p:cNvSpPr txBox="1"/>
          <p:nvPr/>
        </p:nvSpPr>
        <p:spPr>
          <a:xfrm>
            <a:off x="475611" y="5333683"/>
            <a:ext cx="5753737" cy="5969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US" sz="3500" b="1">
                <a:solidFill>
                  <a:srgbClr val="000000"/>
                </a:solidFill>
                <a:latin typeface="Canva Sans Bold" panose="020B0803030501040103"/>
                <a:ea typeface="Canva Sans Bold" panose="020B0803030501040103"/>
                <a:cs typeface="Canva Sans Bold" panose="020B0803030501040103"/>
                <a:sym typeface="Canva Sans Bold" panose="020B0803030501040103"/>
              </a:rPr>
              <a:t>Implementation Plan:</a:t>
            </a:r>
          </a:p>
        </p:txBody>
      </p:sp>
      <p:graphicFrame>
        <p:nvGraphicFramePr>
          <p:cNvPr id="27" name="Diagram 26"/>
          <p:cNvGraphicFramePr/>
          <p:nvPr/>
        </p:nvGraphicFramePr>
        <p:xfrm>
          <a:off x="76200" y="5362575"/>
          <a:ext cx="9834880" cy="4053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sp>
        <p:nvSpPr>
          <p:cNvPr id="25" name="TextBox 25"/>
          <p:cNvSpPr txBox="1"/>
          <p:nvPr/>
        </p:nvSpPr>
        <p:spPr>
          <a:xfrm>
            <a:off x="9478010" y="1613535"/>
            <a:ext cx="8505190" cy="63309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algn="ctr">
              <a:lnSpc>
                <a:spcPts val="4900"/>
              </a:lnSpc>
            </a:pPr>
            <a:r>
              <a:rPr 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P</a:t>
            </a:r>
            <a:r>
              <a:rPr lang="en-IN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OSSIBLE CHALLENGES AND SOLUTIONS</a:t>
            </a:r>
            <a:r>
              <a:rPr 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 Bold" panose="020B0803030501040103"/>
                <a:sym typeface="Canva Sans Bold" panose="020B0803030501040103"/>
              </a:rPr>
              <a:t>: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7623856"/>
              </p:ext>
            </p:extLst>
          </p:nvPr>
        </p:nvGraphicFramePr>
        <p:xfrm>
          <a:off x="9782175" y="2394338"/>
          <a:ext cx="8262756" cy="3855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313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313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831032">
                <a:tc>
                  <a:txBody>
                    <a:bodyPr/>
                    <a:lstStyle/>
                    <a:p>
                      <a:r>
                        <a:rPr lang="en-IN" sz="3600"/>
                        <a:t>Challenge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3600"/>
                        <a:t>Our Approach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346">
                <a:tc>
                  <a:txBody>
                    <a:bodyPr/>
                    <a:lstStyle/>
                    <a:p>
                      <a:r>
                        <a:rPr lang="en-IN" b="1"/>
                        <a:t>Different Government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Connect through APIs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1460">
                <a:tc>
                  <a:txBody>
                    <a:bodyPr/>
                    <a:lstStyle/>
                    <a:p>
                      <a:r>
                        <a:rPr lang="en-IN" b="1"/>
                        <a:t>Document/Verification 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Manual Verification Mismatch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33124">
                <a:tc>
                  <a:txBody>
                    <a:bodyPr/>
                    <a:lstStyle/>
                    <a:p>
                      <a:r>
                        <a:rPr lang="en-IN" b="1"/>
                        <a:t>Data 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 i="0">
                          <a:effectLst/>
                        </a:rPr>
                        <a:t>Secure storage &amp; access control</a:t>
                      </a:r>
                      <a:endParaRPr lang="en-IN" b="1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1460">
                <a:tc>
                  <a:txBody>
                    <a:bodyPr/>
                    <a:lstStyle/>
                    <a:p>
                      <a:r>
                        <a:rPr lang="en-IN" b="1" i="0">
                          <a:effectLst/>
                        </a:rPr>
                        <a:t>Different Languages</a:t>
                      </a:r>
                      <a:endParaRPr lang="en-IN" b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Multilingual AI assistance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802">
                <a:tc>
                  <a:txBody>
                    <a:bodyPr/>
                    <a:lstStyle/>
                    <a:p>
                      <a:r>
                        <a:rPr lang="en-IN" b="1"/>
                        <a:t>Poor internet connectivity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b="1"/>
                        <a:t>Lightweight , mobile-friendly design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7" name="Text Box 36"/>
          <p:cNvSpPr txBox="1"/>
          <p:nvPr/>
        </p:nvSpPr>
        <p:spPr>
          <a:xfrm>
            <a:off x="457200" y="5334000"/>
            <a:ext cx="5477510" cy="887095"/>
          </a:xfrm>
          <a:prstGeom prst="rect">
            <a:avLst/>
          </a:prstGeom>
          <a:solidFill>
            <a:schemeClr val="bg1"/>
          </a:solidFill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endParaRPr lang="en-IN" altLang="en-US" sz="3200" b="1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IN" altLang="en-US" sz="32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IMPLEMENTATION PLAN: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ounded Rectangle 26"/>
          <p:cNvSpPr/>
          <p:nvPr/>
        </p:nvSpPr>
        <p:spPr>
          <a:xfrm>
            <a:off x="6705600" y="1913255"/>
            <a:ext cx="5257800" cy="7129145"/>
          </a:xfrm>
          <a:prstGeom prst="roundRect">
            <a:avLst>
              <a:gd name="adj" fmla="val 8055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ounded Rectangle 20"/>
          <p:cNvSpPr/>
          <p:nvPr/>
        </p:nvSpPr>
        <p:spPr>
          <a:xfrm>
            <a:off x="702628" y="1927514"/>
            <a:ext cx="5257800" cy="7143115"/>
          </a:xfrm>
          <a:prstGeom prst="roundRect">
            <a:avLst>
              <a:gd name="adj" fmla="val 8055"/>
            </a:avLst>
          </a:prstGeom>
        </p:spPr>
        <p:style>
          <a:lnRef idx="0">
            <a:srgbClr val="FFFFFF"/>
          </a:lnRef>
          <a:fillRef idx="2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IMPACT AND BENEFITS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5</a:t>
              </a:r>
            </a:p>
          </p:txBody>
        </p:sp>
      </p:grpSp>
      <p:sp>
        <p:nvSpPr>
          <p:cNvPr id="11" name="Freeform 11"/>
          <p:cNvSpPr/>
          <p:nvPr/>
        </p:nvSpPr>
        <p:spPr>
          <a:xfrm>
            <a:off x="6972300" y="9534525"/>
            <a:ext cx="4806315" cy="548005"/>
          </a:xfrm>
          <a:custGeom>
            <a:avLst/>
            <a:gdLst/>
            <a:ahLst/>
            <a:cxnLst/>
            <a:rect l="l" t="t" r="r" b="b"/>
            <a:pathLst>
              <a:path w="6408000" h="730250">
                <a:moveTo>
                  <a:pt x="0" y="0"/>
                </a:moveTo>
                <a:lnTo>
                  <a:pt x="6408000" y="0"/>
                </a:lnTo>
                <a:lnTo>
                  <a:pt x="6408000" y="730250"/>
                </a:lnTo>
                <a:lnTo>
                  <a:pt x="0" y="730250"/>
                </a:lnTo>
                <a:close/>
              </a:path>
            </a:pathLst>
          </a:custGeom>
          <a:blipFill>
            <a:blip r:embed="rId2">
              <a:alphaModFix amt="0"/>
            </a:blip>
            <a:stretch>
              <a:fillRect t="-120982" b="-120982"/>
            </a:stretch>
          </a:blipFill>
        </p:spPr>
        <p:txBody>
          <a:bodyPr/>
          <a:lstStyle/>
          <a:p>
            <a:endParaRPr lang="en-IN"/>
          </a:p>
        </p:txBody>
      </p:sp>
      <p:grpSp>
        <p:nvGrpSpPr>
          <p:cNvPr id="13" name="Group 13"/>
          <p:cNvGrpSpPr/>
          <p:nvPr/>
        </p:nvGrpSpPr>
        <p:grpSpPr>
          <a:xfrm>
            <a:off x="380997" y="402501"/>
            <a:ext cx="1915887" cy="1249099"/>
            <a:chOff x="0" y="0"/>
            <a:chExt cx="2554516" cy="1665465"/>
          </a:xfrm>
        </p:grpSpPr>
        <p:sp>
          <p:nvSpPr>
            <p:cNvPr id="14" name="Freeform 14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810260" y="4588351"/>
            <a:ext cx="5066030" cy="6280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IN" altLang="en-US" sz="3500" b="1">
                <a:solidFill>
                  <a:srgbClr val="000000"/>
                </a:solidFill>
                <a:latin typeface="Cambria" panose="02040503050406030204" charset="0"/>
                <a:ea typeface="Canva Sans Bold" panose="020B0803030501040103"/>
                <a:cs typeface="Cambria" panose="02040503050406030204" charset="0"/>
                <a:sym typeface="Canva Sans Bold" panose="020B0803030501040103"/>
              </a:rPr>
              <a:t>FOR STUDENTS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6808470" y="4556125"/>
            <a:ext cx="5038725" cy="628015"/>
          </a:xfrm>
          <a:prstGeom prst="rect">
            <a:avLst/>
          </a:prstGeom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900"/>
              </a:lnSpc>
            </a:pPr>
            <a:r>
              <a:rPr lang="en-IN" altLang="en-US" sz="3500" b="1">
                <a:solidFill>
                  <a:srgbClr val="000000"/>
                </a:solidFill>
                <a:latin typeface="Cambria" panose="02040503050406030204" charset="0"/>
                <a:ea typeface="Canva Sans Bold" panose="020B0803030501040103"/>
                <a:cs typeface="Cambria" panose="02040503050406030204" charset="0"/>
                <a:sym typeface="Canva Sans Bold" panose="020B0803030501040103"/>
              </a:rPr>
              <a:t>FOR INSTITUTIONS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6631305" y="4957445"/>
            <a:ext cx="5270500" cy="300672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lvl="1" indent="0" algn="l">
              <a:lnSpc>
                <a:spcPts val="3500"/>
              </a:lnSpc>
              <a:buFont typeface="Arial" panose="020B0604020202020204"/>
              <a:buNone/>
            </a:pPr>
            <a:endParaRPr lang="en-US" sz="2700">
              <a:solidFill>
                <a:srgbClr val="000000"/>
              </a:solidFill>
              <a:latin typeface="Canva Sans" panose="020B0503030501040103"/>
              <a:ea typeface="Canva Sans" panose="020B0503030501040103"/>
              <a:cs typeface="Canva Sans" panose="020B0503030501040103"/>
              <a:sym typeface="Canva Sans" panose="020B0503030501040103"/>
            </a:endParaRP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Easier application and verification management.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Reduces repetitive manual work.</a:t>
            </a:r>
          </a:p>
          <a:p>
            <a:pPr marL="539750" lvl="1" indent="-269875" algn="l">
              <a:lnSpc>
                <a:spcPts val="3500"/>
              </a:lnSpc>
              <a:buFont typeface="Arial" panose="020B0604020202020204"/>
              <a:buChar char="•"/>
            </a:pPr>
            <a:r>
              <a:rPr lang="en-US" sz="2800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Better tracking of student applications.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455" y="4991100"/>
            <a:ext cx="4596130" cy="395859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indent="0">
              <a:buFont typeface="Arial" panose="020B0604020202020204" pitchFamily="34" charset="0"/>
              <a:buNone/>
            </a:pPr>
            <a:endParaRPr lang="en-GB" sz="28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ambria" panose="02040503050406030204" charset="0"/>
                <a:cs typeface="Cambria" panose="02040503050406030204" charset="0"/>
              </a:rPr>
              <a:t>Easy access to multiple tribal scholarships from one platform.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ambria" panose="02040503050406030204" charset="0"/>
                <a:cs typeface="Cambria" panose="02040503050406030204" charset="0"/>
              </a:rPr>
              <a:t>Less repeated form filling and document uploading.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 sz="2800">
                <a:latin typeface="Cambria" panose="02040503050406030204" charset="0"/>
                <a:cs typeface="Cambria" panose="02040503050406030204" charset="0"/>
              </a:rPr>
              <a:t>Clear information about eligibility, application status and deadlines.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2792710" y="1924050"/>
            <a:ext cx="4937760" cy="6959600"/>
          </a:xfrm>
          <a:prstGeom prst="roundRect">
            <a:avLst>
              <a:gd name="adj" fmla="val 8055"/>
            </a:avLst>
          </a:prstGeom>
          <a:ln>
            <a:solidFill>
              <a:schemeClr val="accent1"/>
            </a:solidFill>
          </a:ln>
        </p:spPr>
        <p:style>
          <a:lnRef idx="0">
            <a:srgbClr val="FFFFFF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>
              <a:solidFill>
                <a:schemeClr val="lt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>
              <a:solidFill>
                <a:schemeClr val="lt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>
              <a:solidFill>
                <a:schemeClr val="lt1"/>
              </a:soli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endParaRPr lang="en-IN" altLang="en-US" sz="2800">
              <a:gradFill>
                <a:gsLst>
                  <a:gs pos="50000">
                    <a:schemeClr val="tx1"/>
                  </a:gs>
                  <a:gs pos="50000">
                    <a:schemeClr val="tx1"/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0">
                    <a:schemeClr val="tx1">
                      <a:lumMod val="25000"/>
                      <a:lumOff val="75000"/>
                    </a:schemeClr>
                  </a:gs>
                  <a:gs pos="100000">
                    <a:schemeClr val="tx1">
                      <a:lumMod val="85000"/>
                    </a:schemeClr>
                  </a:gs>
                  <a:gs pos="100000">
                    <a:schemeClr val="tx1">
                      <a:lumMod val="85000"/>
                    </a:schemeClr>
                  </a:gs>
                </a:gsLst>
                <a:lin ang="5400000" scaled="1"/>
              </a:gradFill>
            </a:endParaRP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altLang="en-US" sz="2800">
                <a:gradFill>
                  <a:gsLst>
                    <a:gs pos="50000">
                      <a:schemeClr val="tx1"/>
                    </a:gs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Centralized scholarship data and monitoring.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altLang="en-US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Improving transparency in scholarship distribution.</a:t>
            </a:r>
          </a:p>
          <a:p>
            <a:pPr marL="342900" indent="-342900" algn="l">
              <a:buFont typeface="Arial" panose="020B0604020202020204" pitchFamily="34" charset="0"/>
              <a:buChar char="•"/>
            </a:pPr>
            <a:r>
              <a:rPr lang="en-IN" altLang="en-US" sz="2800">
                <a:gradFill>
                  <a:gsLst>
                    <a:gs pos="50000">
                      <a:schemeClr val="tx1"/>
                    </a:gs>
                    <a:gs pos="0">
                      <a:schemeClr val="tx1">
                        <a:lumMod val="25000"/>
                        <a:lumOff val="75000"/>
                      </a:schemeClr>
                    </a:gs>
                    <a:gs pos="100000">
                      <a:schemeClr val="tx1">
                        <a:lumMod val="85000"/>
                      </a:schemeClr>
                    </a:gs>
                  </a:gsLst>
                  <a:lin ang="5400000" scaled="1"/>
                </a:gradFill>
              </a:rPr>
              <a:t>Reduce delays and duplicate applications</a:t>
            </a:r>
            <a:r>
              <a:rPr lang="en-IN" altLang="en-US" sz="2800">
                <a:solidFill>
                  <a:schemeClr val="lt1"/>
                </a:solidFill>
              </a:rPr>
              <a:t>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2875895" y="4555490"/>
            <a:ext cx="4754245" cy="638810"/>
          </a:xfrm>
          <a:prstGeom prst="rect">
            <a:avLst/>
          </a:prstGeom>
          <a:solidFill>
            <a:schemeClr val="accent1"/>
          </a:solidFill>
        </p:spPr>
        <p:style>
          <a:lnRef idx="0">
            <a:srgbClr val="FFFFFF"/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wrap="none" rtlCol="0" anchor="t">
            <a:noAutofit/>
          </a:bodyPr>
          <a:lstStyle/>
          <a:p>
            <a:pPr algn="ctr"/>
            <a:r>
              <a:rPr lang="en-IN" altLang="en-US" sz="3500" b="1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ambria" panose="02040503050406030204" charset="0"/>
                <a:cs typeface="Cambria" panose="02040503050406030204" charset="0"/>
              </a:rPr>
              <a:t>FOR GOVERNMENT</a:t>
            </a:r>
          </a:p>
        </p:txBody>
      </p:sp>
      <p:sp>
        <p:nvSpPr>
          <p:cNvPr id="32" name="Oval 31"/>
          <p:cNvSpPr/>
          <p:nvPr/>
        </p:nvSpPr>
        <p:spPr>
          <a:xfrm>
            <a:off x="2057400" y="2216785"/>
            <a:ext cx="2438400" cy="2057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Oval 32"/>
          <p:cNvSpPr/>
          <p:nvPr/>
        </p:nvSpPr>
        <p:spPr>
          <a:xfrm>
            <a:off x="8047355" y="2171700"/>
            <a:ext cx="2438400" cy="2057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/>
          <p:cNvSpPr/>
          <p:nvPr/>
        </p:nvSpPr>
        <p:spPr>
          <a:xfrm>
            <a:off x="14037310" y="2126615"/>
            <a:ext cx="2438400" cy="2057400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5" name="Picture 34" descr="mortarboard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33600" y="2171700"/>
            <a:ext cx="2240915" cy="2240915"/>
          </a:xfrm>
          <a:prstGeom prst="rect">
            <a:avLst/>
          </a:prstGeom>
        </p:spPr>
      </p:pic>
      <p:pic>
        <p:nvPicPr>
          <p:cNvPr id="37" name="Picture 36" descr="bank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8510" y="2247900"/>
            <a:ext cx="1736090" cy="1736090"/>
          </a:xfrm>
          <a:prstGeom prst="rect">
            <a:avLst/>
          </a:prstGeom>
        </p:spPr>
      </p:pic>
      <p:pic>
        <p:nvPicPr>
          <p:cNvPr id="38" name="Picture 37" descr="governanc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4417040" y="2192020"/>
            <a:ext cx="1689735" cy="16897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9532144"/>
            <a:ext cx="18288000" cy="754856"/>
            <a:chOff x="0" y="0"/>
            <a:chExt cx="24384000" cy="10064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4384000" cy="1006475"/>
            </a:xfrm>
            <a:custGeom>
              <a:avLst/>
              <a:gdLst/>
              <a:ahLst/>
              <a:cxnLst/>
              <a:rect l="l" t="t" r="r" b="b"/>
              <a:pathLst>
                <a:path w="24384000" h="1006475">
                  <a:moveTo>
                    <a:pt x="0" y="0"/>
                  </a:moveTo>
                  <a:lnTo>
                    <a:pt x="24384000" y="0"/>
                  </a:lnTo>
                  <a:lnTo>
                    <a:pt x="24384000" y="1006475"/>
                  </a:lnTo>
                  <a:lnTo>
                    <a:pt x="0" y="1006475"/>
                  </a:lnTo>
                  <a:close/>
                </a:path>
              </a:pathLst>
            </a:custGeom>
            <a:solidFill>
              <a:srgbClr val="0070C0"/>
            </a:solidFill>
          </p:spPr>
          <p:txBody>
            <a:bodyPr/>
            <a:lstStyle/>
            <a:p>
              <a:endParaRPr lang="en-IN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914400" y="-71438"/>
            <a:ext cx="16459200" cy="1714500"/>
            <a:chOff x="0" y="0"/>
            <a:chExt cx="21945600" cy="228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1945600" cy="2286000"/>
            </a:xfrm>
            <a:custGeom>
              <a:avLst/>
              <a:gdLst/>
              <a:ahLst/>
              <a:cxnLst/>
              <a:rect l="l" t="t" r="r" b="b"/>
              <a:pathLst>
                <a:path w="21945600" h="2286000">
                  <a:moveTo>
                    <a:pt x="0" y="0"/>
                  </a:moveTo>
                  <a:lnTo>
                    <a:pt x="21945600" y="0"/>
                  </a:lnTo>
                  <a:lnTo>
                    <a:pt x="21945600" y="2286000"/>
                  </a:lnTo>
                  <a:lnTo>
                    <a:pt x="0" y="22860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056" b="-137056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28575"/>
              <a:ext cx="21945600" cy="2314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6480"/>
                </a:lnSpc>
              </a:pPr>
              <a:r>
                <a:rPr lang="en-US" sz="5400" b="1">
                  <a:solidFill>
                    <a:srgbClr val="000000"/>
                  </a:solidFill>
                  <a:latin typeface="Times New Roman Bold" panose="02020803070505020304"/>
                  <a:ea typeface="Times New Roman Bold" panose="02020803070505020304"/>
                  <a:cs typeface="Times New Roman Bold" panose="02020803070505020304"/>
                  <a:sym typeface="Times New Roman Bold" panose="02020803070505020304"/>
                </a:rPr>
                <a:t>RESEARCH  AND REFERENCES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3106400" y="9534525"/>
            <a:ext cx="4267200" cy="547688"/>
            <a:chOff x="0" y="0"/>
            <a:chExt cx="5689600" cy="73025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5689600" cy="730250"/>
            </a:xfrm>
            <a:custGeom>
              <a:avLst/>
              <a:gdLst/>
              <a:ahLst/>
              <a:cxnLst/>
              <a:rect l="l" t="t" r="r" b="b"/>
              <a:pathLst>
                <a:path w="5689600" h="730250">
                  <a:moveTo>
                    <a:pt x="0" y="0"/>
                  </a:moveTo>
                  <a:lnTo>
                    <a:pt x="5689600" y="0"/>
                  </a:lnTo>
                  <a:lnTo>
                    <a:pt x="5689600" y="730250"/>
                  </a:lnTo>
                  <a:lnTo>
                    <a:pt x="0" y="73025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1813" b="-101813"/>
              </a:stretch>
            </a:blipFill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5689600" cy="7493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2160"/>
                </a:lnSpc>
              </a:pPr>
              <a:r>
                <a:rPr lang="en-US" sz="1800" b="1">
                  <a:solidFill>
                    <a:srgbClr val="FFFFFF"/>
                  </a:solidFill>
                  <a:latin typeface="Cambria" panose="02040503050406030204" pitchFamily="18" charset="0"/>
                  <a:ea typeface="Cambria" panose="02040503050406030204" pitchFamily="18" charset="0"/>
                  <a:cs typeface="Arimo Bold" panose="020B0704020202020204"/>
                  <a:sym typeface="Arimo Bold" panose="020B0704020202020204"/>
                </a:rPr>
                <a:t>6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475612" y="359321"/>
            <a:ext cx="1915887" cy="1249099"/>
            <a:chOff x="0" y="0"/>
            <a:chExt cx="2554516" cy="1665465"/>
          </a:xfrm>
        </p:grpSpPr>
        <p:sp>
          <p:nvSpPr>
            <p:cNvPr id="15" name="Freeform 15" descr="Your startup LOGO"/>
            <p:cNvSpPr/>
            <p:nvPr/>
          </p:nvSpPr>
          <p:spPr>
            <a:xfrm>
              <a:off x="0" y="0"/>
              <a:ext cx="2554478" cy="1665478"/>
            </a:xfrm>
            <a:custGeom>
              <a:avLst/>
              <a:gdLst/>
              <a:ahLst/>
              <a:cxnLst/>
              <a:rect l="l" t="t" r="r" b="b"/>
              <a:pathLst>
                <a:path w="2554478" h="1665478">
                  <a:moveTo>
                    <a:pt x="0" y="832739"/>
                  </a:moveTo>
                  <a:cubicBezTo>
                    <a:pt x="0" y="372872"/>
                    <a:pt x="571881" y="0"/>
                    <a:pt x="1277239" y="0"/>
                  </a:cubicBezTo>
                  <a:cubicBezTo>
                    <a:pt x="1982597" y="0"/>
                    <a:pt x="2554478" y="372872"/>
                    <a:pt x="2554478" y="832739"/>
                  </a:cubicBezTo>
                  <a:cubicBezTo>
                    <a:pt x="2554478" y="1292606"/>
                    <a:pt x="1982597" y="1665478"/>
                    <a:pt x="1277239" y="1665478"/>
                  </a:cubicBezTo>
                  <a:cubicBezTo>
                    <a:pt x="571881" y="1665478"/>
                    <a:pt x="0" y="1292606"/>
                    <a:pt x="0" y="832739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8064A2"/>
              </a:solidFill>
              <a:prstDash val="solid"/>
              <a:miter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554516" cy="17226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0"/>
                </a:lnSpc>
              </a:pPr>
              <a:r>
                <a:rPr lang="en-IN" altLang="en-US" sz="2700" b="1">
                  <a:solidFill>
                    <a:srgbClr val="000000"/>
                  </a:solidFill>
                  <a:latin typeface="Cambria" panose="02040503050406030204" charset="0"/>
                  <a:ea typeface="Calibri (MS)" panose="020F0502020204030204"/>
                  <a:cs typeface="Cambria" panose="02040503050406030204" charset="0"/>
                  <a:sym typeface="Calibri (MS)" panose="020F0502020204030204"/>
                </a:rPr>
                <a:t>INFINOVA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14670129" y="2248"/>
            <a:ext cx="3374774" cy="1593504"/>
            <a:chOff x="0" y="0"/>
            <a:chExt cx="4499699" cy="2124672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4499737" cy="2124710"/>
            </a:xfrm>
            <a:custGeom>
              <a:avLst/>
              <a:gdLst/>
              <a:ahLst/>
              <a:cxnLst/>
              <a:rect l="l" t="t" r="r" b="b"/>
              <a:pathLst>
                <a:path w="4499737" h="2124710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b="1"/>
              </a:stretch>
            </a:blipFill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1" name="Text Box 20"/>
          <p:cNvSpPr txBox="1"/>
          <p:nvPr/>
        </p:nvSpPr>
        <p:spPr>
          <a:xfrm>
            <a:off x="375285" y="2454910"/>
            <a:ext cx="12513945" cy="1002030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charset="0"/>
                <a:sym typeface="Canva Sans" panose="020B0503030501040103"/>
              </a:rPr>
              <a:t>Ministry of Tribal Affairs – Scholarship Schemes Overview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  <a:hlinkClick r:id="rId4" action="ppaction://hlinkfile"/>
              </a:rPr>
              <a:t>https://tribal.nic.in/scholarshiP.apsx</a:t>
            </a:r>
            <a:endParaRPr lang="en-US" altLang="en-US" sz="280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24" name="Text Box 23"/>
          <p:cNvSpPr txBox="1"/>
          <p:nvPr/>
        </p:nvSpPr>
        <p:spPr>
          <a:xfrm>
            <a:off x="361315" y="3705225"/>
            <a:ext cx="8033385" cy="8972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charset="0"/>
                <a:sym typeface="Canva Sans" panose="020B0503030501040103"/>
              </a:rPr>
              <a:t>National Overseas Scholarship Portal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  <a:hlinkClick r:id="" action="ppaction://hlinkfile"/>
              </a:rPr>
              <a:t>https://overseas.tribal.gov.in</a:t>
            </a:r>
            <a:endParaRPr lang="en-US" altLang="en-US" sz="280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25" name="Text Box 24"/>
          <p:cNvSpPr txBox="1"/>
          <p:nvPr/>
        </p:nvSpPr>
        <p:spPr>
          <a:xfrm>
            <a:off x="367665" y="5031740"/>
            <a:ext cx="12388850" cy="13290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nva Sans" panose="020B0503030501040103"/>
              </a:rPr>
              <a:t>DBT Tribal Portal (Pre/Post Matric Scholarships)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libri" panose="020F0502020204030204" pitchFamily="34" charset="0"/>
                <a:sym typeface="Canva Sans" panose="020B0503030501040103"/>
                <a:hlinkClick r:id="" action="ppaction://hlinkfile"/>
              </a:rPr>
              <a:t>https://dbttribal.gov.in</a:t>
            </a:r>
            <a:endParaRPr lang="en-US" altLang="en-US" sz="280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libri" panose="020F0502020204030204" pitchFamily="34" charset="0"/>
              <a:sym typeface="Canva Sans" panose="020B0503030501040103"/>
            </a:endParaRPr>
          </a:p>
        </p:txBody>
      </p:sp>
      <p:sp>
        <p:nvSpPr>
          <p:cNvPr id="26" name="Text Box 25"/>
          <p:cNvSpPr txBox="1"/>
          <p:nvPr/>
        </p:nvSpPr>
        <p:spPr>
          <a:xfrm>
            <a:off x="381000" y="6286500"/>
            <a:ext cx="8527415" cy="13671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National Fellowship Portal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  <a:hlinkClick r:id="" action="ppaction://hlinkfile"/>
              </a:rPr>
              <a:t>https://fellowship.tribal.gov.in</a:t>
            </a:r>
            <a:endParaRPr lang="en-US" altLang="en-US" sz="280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  <p:sp>
        <p:nvSpPr>
          <p:cNvPr id="27" name="Text Box 26"/>
          <p:cNvSpPr txBox="1"/>
          <p:nvPr/>
        </p:nvSpPr>
        <p:spPr>
          <a:xfrm>
            <a:off x="388620" y="7653655"/>
            <a:ext cx="10008870" cy="1367155"/>
          </a:xfrm>
          <a:prstGeom prst="rect">
            <a:avLst/>
          </a:prstGeom>
        </p:spPr>
        <p:txBody>
          <a:bodyPr wrap="square" lIns="0" tIns="0" rIns="0" bIns="0" rtlCol="0" anchor="t">
            <a:noAutofit/>
          </a:bodyPr>
          <a:lstStyle/>
          <a:p>
            <a:pPr marL="269875" indent="0" algn="just">
              <a:lnSpc>
                <a:spcPts val="3500"/>
              </a:lnSpc>
              <a:buFont typeface="Arial" panose="020B0604020202020204"/>
              <a:buNone/>
            </a:pPr>
            <a:r>
              <a:rPr lang="en-US" altLang="en-US" sz="3000" b="1">
                <a:solidFill>
                  <a:srgbClr val="000000"/>
                </a:solidFill>
                <a:latin typeface="Cambria" panose="02040503050406030204" charset="0"/>
                <a:ea typeface="Canva Sans" panose="020B0503030501040103"/>
                <a:cs typeface="Cambria" panose="02040503050406030204" charset="0"/>
                <a:sym typeface="Canva Sans" panose="020B0503030501040103"/>
              </a:rPr>
              <a:t>National Scholarship Portal (NSP)</a:t>
            </a:r>
          </a:p>
          <a:p>
            <a:pPr marL="539750" indent="-269875" algn="just">
              <a:lnSpc>
                <a:spcPts val="3500"/>
              </a:lnSpc>
              <a:buFont typeface="Arial" panose="020B0604020202020204"/>
              <a:buChar char="•"/>
            </a:pPr>
            <a:r>
              <a:rPr lang="en-US" altLang="en-US" sz="2800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  <a:hlinkClick r:id="" action="ppaction://hlinkfile"/>
              </a:rPr>
              <a:t>https://scholarships.gov.in</a:t>
            </a:r>
            <a:endParaRPr lang="en-US" altLang="en-US" sz="2800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398BC9-AEEF-CF07-2CA6-4C58A731D2D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32898" y="3336789"/>
            <a:ext cx="2076449" cy="2076449"/>
          </a:xfrm>
          <a:prstGeom prst="rect">
            <a:avLst/>
          </a:prstGeom>
        </p:spPr>
      </p:pic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8A40B5C-36A4-1630-89F1-9ED688E8F5D3}"/>
              </a:ext>
            </a:extLst>
          </p:cNvPr>
          <p:cNvCxnSpPr>
            <a:cxnSpLocks/>
          </p:cNvCxnSpPr>
          <p:nvPr/>
        </p:nvCxnSpPr>
        <p:spPr>
          <a:xfrm flipV="1">
            <a:off x="14871123" y="5353367"/>
            <a:ext cx="0" cy="3429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2C4066A5-EC89-2266-53CF-8CBE6B2E5B9C}"/>
              </a:ext>
            </a:extLst>
          </p:cNvPr>
          <p:cNvSpPr txBox="1"/>
          <p:nvPr/>
        </p:nvSpPr>
        <p:spPr>
          <a:xfrm>
            <a:off x="13108564" y="5753100"/>
            <a:ext cx="3426836" cy="409536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marL="269875" algn="just">
              <a:lnSpc>
                <a:spcPts val="3500"/>
              </a:lnSpc>
            </a:pPr>
            <a:r>
              <a:rPr lang="en-US" sz="2500" b="1">
                <a:solidFill>
                  <a:srgbClr val="00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nva Sans" panose="020B0503030501040103"/>
                <a:sym typeface="Canva Sans" panose="020B0503030501040103"/>
              </a:rPr>
              <a:t>Discover our solution</a:t>
            </a:r>
            <a:endParaRPr lang="en-IN" sz="2500" b="1">
              <a:solidFill>
                <a:srgbClr val="000000"/>
              </a:solidFill>
              <a:latin typeface="Cambria" panose="02040503050406030204" pitchFamily="18" charset="0"/>
              <a:ea typeface="Cambria" panose="02040503050406030204" pitchFamily="18" charset="0"/>
              <a:cs typeface="Canva Sans" panose="020B0503030501040103"/>
              <a:sym typeface="Canva Sans" panose="020B0503030501040103"/>
            </a:endParaRP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8&quot;:[20472045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/>
      <a:bodyPr lIns="0" tIns="0" rIns="0" bIns="0" rtlCol="0" anchor="t">
        <a:spAutoFit/>
      </a:bodyPr>
      <a:lstStyle>
        <a:defPPr marL="539750" indent="-269875" algn="just">
          <a:lnSpc>
            <a:spcPts val="3500"/>
          </a:lnSpc>
          <a:buFont typeface="Arial" panose="020B0604020202020204"/>
          <a:buChar char="•"/>
          <a:defRPr sz="2500" dirty="0">
            <a:solidFill>
              <a:srgbClr val="000000"/>
            </a:solidFill>
            <a:latin typeface="Canva Sans" panose="020B0503030501040103"/>
            <a:ea typeface="Canva Sans" panose="020B0503030501040103"/>
            <a:cs typeface="Canva Sans" panose="020B0503030501040103"/>
            <a:sym typeface="Canva Sans" panose="020B0503030501040103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Archway</Template>
  <TotalTime>0</TotalTime>
  <Words>499</Words>
  <Application>Microsoft Office PowerPoint</Application>
  <PresentationFormat>Custom</PresentationFormat>
  <Paragraphs>151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Cambria</vt:lpstr>
      <vt:lpstr>Canva Sans</vt:lpstr>
      <vt:lpstr>Canva Sans Bold</vt:lpstr>
      <vt:lpstr>Garamond Bold</vt:lpstr>
      <vt:lpstr>Times New Roman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Problem Statement ID – Problem Statement Title- Theme- PS Category- Software/Hardware Team ID- Team Name (Registered on portal)</dc:title>
  <dc:creator>purushothaman</dc:creator>
  <cp:lastModifiedBy>UMAR FAROOK</cp:lastModifiedBy>
  <cp:revision>1</cp:revision>
  <dcterms:created xsi:type="dcterms:W3CDTF">2006-08-16T00:00:00Z</dcterms:created>
  <dcterms:modified xsi:type="dcterms:W3CDTF">2026-09-26T05:51:48Z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1033-12.1.0.28485</vt:lpwstr>
  </property>
  <property fmtid="{D5CDD505-2E9C-101B-9397-08002B2CF9AE}" pid="3" name="ICV">
    <vt:lpwstr>3C3DBCB6C3064AA5845F6CF464C5D6D6_12</vt:lpwstr>
  </property>
</Properties>
</file>