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2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ＭＳ Ｐゴシック" panose="020B0600070205080204" pitchFamily="34" charset="-128"/>
      <p:regular r:id="rId8"/>
    </p:embeddedFon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Canva Sans" panose="020B0604020202020204" charset="0"/>
      <p:regular r:id="rId13"/>
    </p:embeddedFont>
    <p:embeddedFont>
      <p:font typeface="Canva Sans Bold" panose="020B0604020202020204" charset="0"/>
      <p:bold r:id="rId14"/>
    </p:embeddedFont>
    <p:embeddedFont>
      <p:font typeface="Garamond Bold" panose="02020804030307010803" pitchFamily="18" charset="0"/>
      <p:bold r:id="rId15"/>
    </p:embeddedFont>
    <p:embeddedFont>
      <p:font typeface="Times New Roman Bold" panose="02020803070505020304" pitchFamily="18" charset="0"/>
      <p:bold r:id="rId16"/>
    </p:embeddedFont>
  </p:embeddedFontLst>
  <p:custDataLst>
    <p:tags r:id="rId1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66" dt="2026-09-26T07:29:41.556"/>
    <p1510:client id="{64FEAEF4-6E25-D356-D21E-70D20035F66F}" v="1274" dt="2026-09-26T06:51:50.278"/>
    <p1510:client id="{A43FDE18-4FFC-3F89-1061-722187143039}" v="15" dt="2026-09-26T06:30:17.292"/>
    <p1510:client id="{F9AF0CDC-5D64-49FE-BFB8-7FCCE64F9DD9}" v="2" dt="2026-09-26T06:55:03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6B22EB-4DDA-4FBD-9514-87953B1907EF}" type="doc">
      <dgm:prSet loTypeId="urn:microsoft.com/office/officeart/2005/8/layout/vList2#1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IN"/>
        </a:p>
      </dgm:t>
    </dgm:pt>
    <dgm:pt modelId="{A872D19C-103B-4B91-A94F-7C167C8C35FA}">
      <dgm:prSet/>
      <dgm:spPr/>
      <dgm:t>
        <a:bodyPr/>
        <a:lstStyle/>
        <a:p>
          <a:r>
            <a:rPr lang="en-US"/>
            <a:t>Uses commonly available web/mobile technologies, databases and APIs.</a:t>
          </a:r>
          <a:endParaRPr lang="en-IN"/>
        </a:p>
      </dgm:t>
    </dgm:pt>
    <dgm:pt modelId="{8A0E76B5-B150-4270-9766-A105FEC839B0}" type="parTrans" cxnId="{DF32BA6C-155F-494A-BBD4-CDF424798AD4}">
      <dgm:prSet/>
      <dgm:spPr/>
      <dgm:t>
        <a:bodyPr/>
        <a:lstStyle/>
        <a:p>
          <a:endParaRPr lang="en-IN"/>
        </a:p>
      </dgm:t>
    </dgm:pt>
    <dgm:pt modelId="{43ACAE54-2978-4243-8C44-6F0EDE28F8FF}" type="sibTrans" cxnId="{DF32BA6C-155F-494A-BBD4-CDF424798AD4}">
      <dgm:prSet/>
      <dgm:spPr/>
      <dgm:t>
        <a:bodyPr/>
        <a:lstStyle/>
        <a:p>
          <a:endParaRPr lang="en-IN"/>
        </a:p>
      </dgm:t>
    </dgm:pt>
    <dgm:pt modelId="{6AAAA086-E317-4C57-B38A-9B7886BF8FE4}">
      <dgm:prSet/>
      <dgm:spPr/>
      <dgm:t>
        <a:bodyPr/>
        <a:lstStyle/>
        <a:p>
          <a:r>
            <a:rPr lang="en-US" dirty="0"/>
            <a:t>The system can be connected with existing scholarship and digital-document services.</a:t>
          </a:r>
          <a:endParaRPr lang="en-IN" dirty="0"/>
        </a:p>
      </dgm:t>
    </dgm:pt>
    <dgm:pt modelId="{9DC5EBB4-A72C-4C41-80C2-1C61D669A47E}" type="parTrans" cxnId="{7817C646-7163-43F9-ADE2-630F54BA0DBC}">
      <dgm:prSet/>
      <dgm:spPr/>
      <dgm:t>
        <a:bodyPr/>
        <a:lstStyle/>
        <a:p>
          <a:endParaRPr lang="en-IN"/>
        </a:p>
      </dgm:t>
    </dgm:pt>
    <dgm:pt modelId="{E127DC83-B604-4FA3-B75F-37B8D3606441}" type="sibTrans" cxnId="{7817C646-7163-43F9-ADE2-630F54BA0DBC}">
      <dgm:prSet/>
      <dgm:spPr/>
      <dgm:t>
        <a:bodyPr/>
        <a:lstStyle/>
        <a:p>
          <a:endParaRPr lang="en-IN"/>
        </a:p>
      </dgm:t>
    </dgm:pt>
    <dgm:pt modelId="{CFE5D97F-BBF7-499B-B153-AB8F2A13C2C9}">
      <dgm:prSet/>
      <dgm:spPr/>
      <dgm:t>
        <a:bodyPr/>
        <a:lstStyle/>
        <a:p>
          <a:r>
            <a:rPr lang="en-US"/>
            <a:t>Student information and documents can be stored and managed securely.</a:t>
          </a:r>
          <a:endParaRPr lang="en-IN"/>
        </a:p>
      </dgm:t>
    </dgm:pt>
    <dgm:pt modelId="{8E721271-348F-40DC-89DC-D919556F5A76}" type="parTrans" cxnId="{A77370CA-4D92-4E62-B72A-6F950ACF46DC}">
      <dgm:prSet/>
      <dgm:spPr/>
      <dgm:t>
        <a:bodyPr/>
        <a:lstStyle/>
        <a:p>
          <a:endParaRPr lang="en-IN"/>
        </a:p>
      </dgm:t>
    </dgm:pt>
    <dgm:pt modelId="{496688DE-6A1C-42CD-9FA0-A325124E88A1}" type="sibTrans" cxnId="{A77370CA-4D92-4E62-B72A-6F950ACF46DC}">
      <dgm:prSet/>
      <dgm:spPr/>
      <dgm:t>
        <a:bodyPr/>
        <a:lstStyle/>
        <a:p>
          <a:endParaRPr lang="en-IN"/>
        </a:p>
      </dgm:t>
    </dgm:pt>
    <dgm:pt modelId="{F44C8079-EBD8-4A1E-BC53-9447F32DBABE}" type="pres">
      <dgm:prSet presAssocID="{086B22EB-4DDA-4FBD-9514-87953B1907EF}" presName="linear" presStyleCnt="0">
        <dgm:presLayoutVars>
          <dgm:animLvl val="lvl"/>
          <dgm:resizeHandles val="exact"/>
        </dgm:presLayoutVars>
      </dgm:prSet>
      <dgm:spPr/>
    </dgm:pt>
    <dgm:pt modelId="{564C056C-27C3-40EC-8113-5D33CC4144C4}" type="pres">
      <dgm:prSet presAssocID="{A872D19C-103B-4B91-A94F-7C167C8C35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4E8498-F448-4BCE-81E9-9A1273AFF1C2}" type="pres">
      <dgm:prSet presAssocID="{43ACAE54-2978-4243-8C44-6F0EDE28F8FF}" presName="spacer" presStyleCnt="0"/>
      <dgm:spPr/>
    </dgm:pt>
    <dgm:pt modelId="{9F722B12-99F6-4A60-A43C-D5B09B7F60EE}" type="pres">
      <dgm:prSet presAssocID="{6AAAA086-E317-4C57-B38A-9B7886BF8F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465971-ED72-402E-AFD9-21AA3E50BE9C}" type="pres">
      <dgm:prSet presAssocID="{E127DC83-B604-4FA3-B75F-37B8D3606441}" presName="spacer" presStyleCnt="0"/>
      <dgm:spPr/>
    </dgm:pt>
    <dgm:pt modelId="{0039B57D-9E69-49A5-A40B-2D640A12CCD9}" type="pres">
      <dgm:prSet presAssocID="{CFE5D97F-BBF7-499B-B153-AB8F2A13C2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6880A2D-0956-422F-A45C-B4EE81DDC010}" type="presOf" srcId="{6AAAA086-E317-4C57-B38A-9B7886BF8FE4}" destId="{9F722B12-99F6-4A60-A43C-D5B09B7F60EE}" srcOrd="0" destOrd="0" presId="urn:microsoft.com/office/officeart/2005/8/layout/vList2#1"/>
    <dgm:cxn modelId="{C21D0063-FD61-4B83-8995-EE04D9CA0498}" type="presOf" srcId="{CFE5D97F-BBF7-499B-B153-AB8F2A13C2C9}" destId="{0039B57D-9E69-49A5-A40B-2D640A12CCD9}" srcOrd="0" destOrd="0" presId="urn:microsoft.com/office/officeart/2005/8/layout/vList2#1"/>
    <dgm:cxn modelId="{4BECA965-9411-471D-9934-3BE93D4F6E86}" type="presOf" srcId="{086B22EB-4DDA-4FBD-9514-87953B1907EF}" destId="{F44C8079-EBD8-4A1E-BC53-9447F32DBABE}" srcOrd="0" destOrd="0" presId="urn:microsoft.com/office/officeart/2005/8/layout/vList2#1"/>
    <dgm:cxn modelId="{7817C646-7163-43F9-ADE2-630F54BA0DBC}" srcId="{086B22EB-4DDA-4FBD-9514-87953B1907EF}" destId="{6AAAA086-E317-4C57-B38A-9B7886BF8FE4}" srcOrd="1" destOrd="0" parTransId="{9DC5EBB4-A72C-4C41-80C2-1C61D669A47E}" sibTransId="{E127DC83-B604-4FA3-B75F-37B8D3606441}"/>
    <dgm:cxn modelId="{DF32BA6C-155F-494A-BBD4-CDF424798AD4}" srcId="{086B22EB-4DDA-4FBD-9514-87953B1907EF}" destId="{A872D19C-103B-4B91-A94F-7C167C8C35FA}" srcOrd="0" destOrd="0" parTransId="{8A0E76B5-B150-4270-9766-A105FEC839B0}" sibTransId="{43ACAE54-2978-4243-8C44-6F0EDE28F8FF}"/>
    <dgm:cxn modelId="{7A57299A-B68D-4842-ACFB-56467FF7D5D9}" type="presOf" srcId="{A872D19C-103B-4B91-A94F-7C167C8C35FA}" destId="{564C056C-27C3-40EC-8113-5D33CC4144C4}" srcOrd="0" destOrd="0" presId="urn:microsoft.com/office/officeart/2005/8/layout/vList2#1"/>
    <dgm:cxn modelId="{A77370CA-4D92-4E62-B72A-6F950ACF46DC}" srcId="{086B22EB-4DDA-4FBD-9514-87953B1907EF}" destId="{CFE5D97F-BBF7-499B-B153-AB8F2A13C2C9}" srcOrd="2" destOrd="0" parTransId="{8E721271-348F-40DC-89DC-D919556F5A76}" sibTransId="{496688DE-6A1C-42CD-9FA0-A325124E88A1}"/>
    <dgm:cxn modelId="{FF0546D0-7C13-4C4C-A708-0AED35AE8A43}" type="presParOf" srcId="{F44C8079-EBD8-4A1E-BC53-9447F32DBABE}" destId="{564C056C-27C3-40EC-8113-5D33CC4144C4}" srcOrd="0" destOrd="0" presId="urn:microsoft.com/office/officeart/2005/8/layout/vList2#1"/>
    <dgm:cxn modelId="{3E3C346A-FE78-4F9D-BCA2-C166CBCB4CEB}" type="presParOf" srcId="{F44C8079-EBD8-4A1E-BC53-9447F32DBABE}" destId="{174E8498-F448-4BCE-81E9-9A1273AFF1C2}" srcOrd="1" destOrd="0" presId="urn:microsoft.com/office/officeart/2005/8/layout/vList2#1"/>
    <dgm:cxn modelId="{8F26763D-EF96-4D59-B298-B8B1BA430752}" type="presParOf" srcId="{F44C8079-EBD8-4A1E-BC53-9447F32DBABE}" destId="{9F722B12-99F6-4A60-A43C-D5B09B7F60EE}" srcOrd="2" destOrd="0" presId="urn:microsoft.com/office/officeart/2005/8/layout/vList2#1"/>
    <dgm:cxn modelId="{FCBB230B-CC95-4326-81D6-26B001DB1FA7}" type="presParOf" srcId="{F44C8079-EBD8-4A1E-BC53-9447F32DBABE}" destId="{C6465971-ED72-402E-AFD9-21AA3E50BE9C}" srcOrd="3" destOrd="0" presId="urn:microsoft.com/office/officeart/2005/8/layout/vList2#1"/>
    <dgm:cxn modelId="{4C6EDE0D-6E22-467C-AB8B-BDD5EC9E3842}" type="presParOf" srcId="{F44C8079-EBD8-4A1E-BC53-9447F32DBABE}" destId="{0039B57D-9E69-49A5-A40B-2D640A12CCD9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0A4BD5-4366-4BE0-9E6F-81BF7C3659FB}" type="doc">
      <dgm:prSet loTypeId="urn:microsoft.com/office/officeart/2005/8/layout/hProcess9#1" loCatId="process" qsTypeId="urn:microsoft.com/office/officeart/2005/8/quickstyle/simple3#1" qsCatId="simple" csTypeId="urn:microsoft.com/office/officeart/2005/8/colors/accent1_2#2" csCatId="accent1"/>
      <dgm:spPr/>
      <dgm:t>
        <a:bodyPr/>
        <a:lstStyle/>
        <a:p>
          <a:endParaRPr lang="en-IN"/>
        </a:p>
      </dgm:t>
    </dgm:pt>
    <dgm:pt modelId="{377C624B-A35E-4907-9A81-4971A249D50D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/>
            <a:t>Phase 1 — Build:</a:t>
          </a:r>
          <a:r>
            <a:rPr lang="en-US" sz="1800"/>
            <a:t> Develop the student profile, scholarship search, document management and application tracking.</a:t>
          </a:r>
          <a:endParaRPr lang="en-IN" sz="1800"/>
        </a:p>
      </dgm:t>
    </dgm:pt>
    <dgm:pt modelId="{A9E43FB4-2825-445B-94CB-472D305A291C}" type="parTrans" cxnId="{E4966877-F023-46E3-B348-15F78BB0C354}">
      <dgm:prSet/>
      <dgm:spPr/>
      <dgm:t>
        <a:bodyPr/>
        <a:lstStyle/>
        <a:p>
          <a:endParaRPr lang="en-IN"/>
        </a:p>
      </dgm:t>
    </dgm:pt>
    <dgm:pt modelId="{20C41672-086E-441F-8E65-7E897F68E7F1}" type="sibTrans" cxnId="{E4966877-F023-46E3-B348-15F78BB0C354}">
      <dgm:prSet/>
      <dgm:spPr/>
      <dgm:t>
        <a:bodyPr/>
        <a:lstStyle/>
        <a:p>
          <a:endParaRPr lang="en-IN"/>
        </a:p>
      </dgm:t>
    </dgm:pt>
    <dgm:pt modelId="{F497C0B4-DB41-47AC-A759-3A455D4D4142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/>
            <a:t>Phase 2 — Integrate:</a:t>
          </a:r>
          <a:r>
            <a:rPr lang="en-US" sz="1900"/>
            <a:t> Connect with relevant government services and verification systems through authorized APIs.</a:t>
          </a:r>
          <a:endParaRPr lang="en-IN" sz="1900"/>
        </a:p>
      </dgm:t>
    </dgm:pt>
    <dgm:pt modelId="{A499AB24-282B-4268-AFDA-B55C05492F28}" type="parTrans" cxnId="{06B3DE40-6374-418D-983C-E33F325BE6C1}">
      <dgm:prSet/>
      <dgm:spPr/>
      <dgm:t>
        <a:bodyPr/>
        <a:lstStyle/>
        <a:p>
          <a:endParaRPr lang="en-IN"/>
        </a:p>
      </dgm:t>
    </dgm:pt>
    <dgm:pt modelId="{304912FC-7DF9-4658-8575-5655FA72878D}" type="sibTrans" cxnId="{06B3DE40-6374-418D-983C-E33F325BE6C1}">
      <dgm:prSet/>
      <dgm:spPr/>
      <dgm:t>
        <a:bodyPr/>
        <a:lstStyle/>
        <a:p>
          <a:endParaRPr lang="en-IN"/>
        </a:p>
      </dgm:t>
    </dgm:pt>
    <dgm:pt modelId="{0206FB3B-459E-454F-A4F8-52F1E8E625A1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/>
            <a:t>Phase 3 — Test &amp; Deploy: </a:t>
          </a:r>
          <a:r>
            <a:rPr lang="en-US" sz="1800"/>
            <a:t>Test with students and institutions, fix issues, and gradually expand the platform.</a:t>
          </a:r>
          <a:endParaRPr lang="en-IN" sz="1800"/>
        </a:p>
      </dgm:t>
    </dgm:pt>
    <dgm:pt modelId="{84BFBC36-E423-44D6-AB0F-AFFBF0BA1459}" type="parTrans" cxnId="{6386D277-615B-4436-8A1B-DBEAD2A4082A}">
      <dgm:prSet/>
      <dgm:spPr/>
      <dgm:t>
        <a:bodyPr/>
        <a:lstStyle/>
        <a:p>
          <a:endParaRPr lang="en-IN"/>
        </a:p>
      </dgm:t>
    </dgm:pt>
    <dgm:pt modelId="{C6DEFF5C-87D5-4C51-AA3D-824EAE863DDA}" type="sibTrans" cxnId="{6386D277-615B-4436-8A1B-DBEAD2A4082A}">
      <dgm:prSet/>
      <dgm:spPr/>
      <dgm:t>
        <a:bodyPr/>
        <a:lstStyle/>
        <a:p>
          <a:endParaRPr lang="en-IN"/>
        </a:p>
      </dgm:t>
    </dgm:pt>
    <dgm:pt modelId="{D3CFB4EA-3950-41D9-A5B6-9DF98EB9AC33}" type="pres">
      <dgm:prSet presAssocID="{170A4BD5-4366-4BE0-9E6F-81BF7C3659FB}" presName="CompostProcess" presStyleCnt="0">
        <dgm:presLayoutVars>
          <dgm:dir/>
          <dgm:resizeHandles val="exact"/>
        </dgm:presLayoutVars>
      </dgm:prSet>
      <dgm:spPr/>
    </dgm:pt>
    <dgm:pt modelId="{C1246DAA-C364-48D2-BB0F-DE2A58C70BF1}" type="pres">
      <dgm:prSet presAssocID="{170A4BD5-4366-4BE0-9E6F-81BF7C3659FB}" presName="arrow" presStyleLbl="bgShp" presStyleIdx="0" presStyleCnt="1"/>
      <dgm:spPr/>
    </dgm:pt>
    <dgm:pt modelId="{138F3A46-A6FD-4CA3-8952-78BEF2126F42}" type="pres">
      <dgm:prSet presAssocID="{170A4BD5-4366-4BE0-9E6F-81BF7C3659FB}" presName="linearProcess" presStyleCnt="0"/>
      <dgm:spPr/>
    </dgm:pt>
    <dgm:pt modelId="{62DE231D-1BD3-4DDD-BAC8-4B162AD70EC5}" type="pres">
      <dgm:prSet presAssocID="{377C624B-A35E-4907-9A81-4971A249D50D}" presName="textNode" presStyleLbl="node1" presStyleIdx="0" presStyleCnt="3">
        <dgm:presLayoutVars>
          <dgm:bulletEnabled val="1"/>
        </dgm:presLayoutVars>
      </dgm:prSet>
      <dgm:spPr/>
    </dgm:pt>
    <dgm:pt modelId="{75F025D3-3757-4FAA-B656-0E296FB857A8}" type="pres">
      <dgm:prSet presAssocID="{20C41672-086E-441F-8E65-7E897F68E7F1}" presName="sibTrans" presStyleCnt="0"/>
      <dgm:spPr/>
    </dgm:pt>
    <dgm:pt modelId="{ABED8261-BB96-4425-89C1-3D7E2E4C64D1}" type="pres">
      <dgm:prSet presAssocID="{F497C0B4-DB41-47AC-A759-3A455D4D4142}" presName="textNode" presStyleLbl="node1" presStyleIdx="1" presStyleCnt="3">
        <dgm:presLayoutVars>
          <dgm:bulletEnabled val="1"/>
        </dgm:presLayoutVars>
      </dgm:prSet>
      <dgm:spPr/>
    </dgm:pt>
    <dgm:pt modelId="{6388294B-B479-4533-8792-58494D8B2616}" type="pres">
      <dgm:prSet presAssocID="{304912FC-7DF9-4658-8575-5655FA72878D}" presName="sibTrans" presStyleCnt="0"/>
      <dgm:spPr/>
    </dgm:pt>
    <dgm:pt modelId="{DE477265-68E4-446D-B897-56BD2F1FED46}" type="pres">
      <dgm:prSet presAssocID="{0206FB3B-459E-454F-A4F8-52F1E8E625A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C1AE40C-28B7-43CF-9301-494C55B9E0BE}" type="presOf" srcId="{170A4BD5-4366-4BE0-9E6F-81BF7C3659FB}" destId="{D3CFB4EA-3950-41D9-A5B6-9DF98EB9AC33}" srcOrd="0" destOrd="0" presId="urn:microsoft.com/office/officeart/2005/8/layout/hProcess9#1"/>
    <dgm:cxn modelId="{06B3DE40-6374-418D-983C-E33F325BE6C1}" srcId="{170A4BD5-4366-4BE0-9E6F-81BF7C3659FB}" destId="{F497C0B4-DB41-47AC-A759-3A455D4D4142}" srcOrd="1" destOrd="0" parTransId="{A499AB24-282B-4268-AFDA-B55C05492F28}" sibTransId="{304912FC-7DF9-4658-8575-5655FA72878D}"/>
    <dgm:cxn modelId="{78EAED6A-D5DD-4C3D-99BC-3F3860D808A2}" type="presOf" srcId="{0206FB3B-459E-454F-A4F8-52F1E8E625A1}" destId="{DE477265-68E4-446D-B897-56BD2F1FED46}" srcOrd="0" destOrd="0" presId="urn:microsoft.com/office/officeart/2005/8/layout/hProcess9#1"/>
    <dgm:cxn modelId="{E4966877-F023-46E3-B348-15F78BB0C354}" srcId="{170A4BD5-4366-4BE0-9E6F-81BF7C3659FB}" destId="{377C624B-A35E-4907-9A81-4971A249D50D}" srcOrd="0" destOrd="0" parTransId="{A9E43FB4-2825-445B-94CB-472D305A291C}" sibTransId="{20C41672-086E-441F-8E65-7E897F68E7F1}"/>
    <dgm:cxn modelId="{6386D277-615B-4436-8A1B-DBEAD2A4082A}" srcId="{170A4BD5-4366-4BE0-9E6F-81BF7C3659FB}" destId="{0206FB3B-459E-454F-A4F8-52F1E8E625A1}" srcOrd="2" destOrd="0" parTransId="{84BFBC36-E423-44D6-AB0F-AFFBF0BA1459}" sibTransId="{C6DEFF5C-87D5-4C51-AA3D-824EAE863DDA}"/>
    <dgm:cxn modelId="{03F884C8-B929-4020-AC46-35A07D8DC2F2}" type="presOf" srcId="{377C624B-A35E-4907-9A81-4971A249D50D}" destId="{62DE231D-1BD3-4DDD-BAC8-4B162AD70EC5}" srcOrd="0" destOrd="0" presId="urn:microsoft.com/office/officeart/2005/8/layout/hProcess9#1"/>
    <dgm:cxn modelId="{245562FC-8995-4BDF-B4E0-9F960D5A5BB6}" type="presOf" srcId="{F497C0B4-DB41-47AC-A759-3A455D4D4142}" destId="{ABED8261-BB96-4425-89C1-3D7E2E4C64D1}" srcOrd="0" destOrd="0" presId="urn:microsoft.com/office/officeart/2005/8/layout/hProcess9#1"/>
    <dgm:cxn modelId="{964FA75D-DBF2-4B4F-BB94-C1422CF528D0}" type="presParOf" srcId="{D3CFB4EA-3950-41D9-A5B6-9DF98EB9AC33}" destId="{C1246DAA-C364-48D2-BB0F-DE2A58C70BF1}" srcOrd="0" destOrd="0" presId="urn:microsoft.com/office/officeart/2005/8/layout/hProcess9#1"/>
    <dgm:cxn modelId="{8575B99D-5FF9-4BC4-B95E-2F1A25C15982}" type="presParOf" srcId="{D3CFB4EA-3950-41D9-A5B6-9DF98EB9AC33}" destId="{138F3A46-A6FD-4CA3-8952-78BEF2126F42}" srcOrd="1" destOrd="0" presId="urn:microsoft.com/office/officeart/2005/8/layout/hProcess9#1"/>
    <dgm:cxn modelId="{6D9B8CF9-7B9E-4D0A-B663-FE63958F1EE4}" type="presParOf" srcId="{138F3A46-A6FD-4CA3-8952-78BEF2126F42}" destId="{62DE231D-1BD3-4DDD-BAC8-4B162AD70EC5}" srcOrd="0" destOrd="0" presId="urn:microsoft.com/office/officeart/2005/8/layout/hProcess9#1"/>
    <dgm:cxn modelId="{1D616874-4D34-4C40-8970-5C1E5EF43BF8}" type="presParOf" srcId="{138F3A46-A6FD-4CA3-8952-78BEF2126F42}" destId="{75F025D3-3757-4FAA-B656-0E296FB857A8}" srcOrd="1" destOrd="0" presId="urn:microsoft.com/office/officeart/2005/8/layout/hProcess9#1"/>
    <dgm:cxn modelId="{3BA60A3B-FAB7-4707-B194-B32295319911}" type="presParOf" srcId="{138F3A46-A6FD-4CA3-8952-78BEF2126F42}" destId="{ABED8261-BB96-4425-89C1-3D7E2E4C64D1}" srcOrd="2" destOrd="0" presId="urn:microsoft.com/office/officeart/2005/8/layout/hProcess9#1"/>
    <dgm:cxn modelId="{CD96EDCC-3224-42DD-9816-8F24C252760A}" type="presParOf" srcId="{138F3A46-A6FD-4CA3-8952-78BEF2126F42}" destId="{6388294B-B479-4533-8792-58494D8B2616}" srcOrd="3" destOrd="0" presId="urn:microsoft.com/office/officeart/2005/8/layout/hProcess9#1"/>
    <dgm:cxn modelId="{FAA250F1-AFCA-41A8-859F-CBBFA46D9530}" type="presParOf" srcId="{138F3A46-A6FD-4CA3-8952-78BEF2126F42}" destId="{DE477265-68E4-446D-B897-56BD2F1FED46}" srcOrd="4" destOrd="0" presId="urn:microsoft.com/office/officeart/2005/8/layout/hProcess9#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C056C-27C3-40EC-8113-5D33CC4144C4}">
      <dsp:nvSpPr>
        <dsp:cNvPr id="0" name=""/>
        <dsp:cNvSpPr/>
      </dsp:nvSpPr>
      <dsp:spPr bwMode="white">
        <a:xfrm>
          <a:off x="0" y="5928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Uses commonly available web/mobile technologies, databases and APIs.</a:t>
          </a:r>
          <a:endParaRPr lang="en-IN" sz="2100" kern="1200"/>
        </a:p>
      </dsp:txBody>
      <dsp:txXfrm>
        <a:off x="40780" y="100061"/>
        <a:ext cx="7157440" cy="753819"/>
      </dsp:txXfrm>
    </dsp:sp>
    <dsp:sp modelId="{9F722B12-99F6-4A60-A43C-D5B09B7F60EE}">
      <dsp:nvSpPr>
        <dsp:cNvPr id="0" name=""/>
        <dsp:cNvSpPr/>
      </dsp:nvSpPr>
      <dsp:spPr bwMode="white">
        <a:xfrm>
          <a:off x="0" y="95514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The system can be connected with existing scholarship and digital-document services.</a:t>
          </a:r>
          <a:endParaRPr lang="en-IN" sz="2100" kern="1200" dirty="0"/>
        </a:p>
      </dsp:txBody>
      <dsp:txXfrm>
        <a:off x="40780" y="995921"/>
        <a:ext cx="7157440" cy="753819"/>
      </dsp:txXfrm>
    </dsp:sp>
    <dsp:sp modelId="{0039B57D-9E69-49A5-A40B-2D640A12CCD9}">
      <dsp:nvSpPr>
        <dsp:cNvPr id="0" name=""/>
        <dsp:cNvSpPr/>
      </dsp:nvSpPr>
      <dsp:spPr bwMode="white">
        <a:xfrm>
          <a:off x="0" y="185100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Student information and documents can be stored and managed securely.</a:t>
          </a:r>
          <a:endParaRPr lang="en-IN" sz="2100" kern="1200"/>
        </a:p>
      </dsp:txBody>
      <dsp:txXfrm>
        <a:off x="40780" y="1891781"/>
        <a:ext cx="7157440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46DAA-C364-48D2-BB0F-DE2A58C70BF1}">
      <dsp:nvSpPr>
        <dsp:cNvPr id="0" name=""/>
        <dsp:cNvSpPr/>
      </dsp:nvSpPr>
      <dsp:spPr>
        <a:xfrm>
          <a:off x="737615" y="0"/>
          <a:ext cx="8359648" cy="40532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2DE231D-1BD3-4DDD-BAC8-4B162AD70EC5}">
      <dsp:nvSpPr>
        <dsp:cNvPr id="0" name=""/>
        <dsp:cNvSpPr/>
      </dsp:nvSpPr>
      <dsp:spPr bwMode="white">
        <a:xfrm>
          <a:off x="2883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Phase 1 — Build:</a:t>
          </a:r>
          <a:r>
            <a:rPr lang="en-US" sz="1800" kern="1200"/>
            <a:t> Develop the student profile, scholarship search, document management and application tracking.</a:t>
          </a:r>
          <a:endParaRPr lang="en-IN" sz="1800" kern="1200"/>
        </a:p>
      </dsp:txBody>
      <dsp:txXfrm>
        <a:off x="82027" y="1295105"/>
        <a:ext cx="2843398" cy="1462994"/>
      </dsp:txXfrm>
    </dsp:sp>
    <dsp:sp modelId="{ABED8261-BB96-4425-89C1-3D7E2E4C64D1}">
      <dsp:nvSpPr>
        <dsp:cNvPr id="0" name=""/>
        <dsp:cNvSpPr/>
      </dsp:nvSpPr>
      <dsp:spPr bwMode="white">
        <a:xfrm>
          <a:off x="3416596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Phase 2 — Integrate:</a:t>
          </a:r>
          <a:r>
            <a:rPr lang="en-US" sz="1900" kern="1200"/>
            <a:t> Connect with relevant government services and verification systems through authorized APIs.</a:t>
          </a:r>
          <a:endParaRPr lang="en-IN" sz="1900" kern="1200"/>
        </a:p>
      </dsp:txBody>
      <dsp:txXfrm>
        <a:off x="3495740" y="1295105"/>
        <a:ext cx="2843398" cy="1462994"/>
      </dsp:txXfrm>
    </dsp:sp>
    <dsp:sp modelId="{DE477265-68E4-446D-B897-56BD2F1FED46}">
      <dsp:nvSpPr>
        <dsp:cNvPr id="0" name=""/>
        <dsp:cNvSpPr/>
      </dsp:nvSpPr>
      <dsp:spPr bwMode="white">
        <a:xfrm>
          <a:off x="6830310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Phase 3 — Test &amp; Deploy: </a:t>
          </a:r>
          <a:r>
            <a:rPr lang="en-US" sz="1800" kern="1200"/>
            <a:t>Test with students and institutions, fix issues, and gradually expand the platform.</a:t>
          </a:r>
          <a:endParaRPr lang="en-IN" sz="1800" kern="1200"/>
        </a:p>
      </dsp:txBody>
      <dsp:txXfrm>
        <a:off x="6909454" y="1295105"/>
        <a:ext cx="2843398" cy="1462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#1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hyperlink" Target="https://drive.google.com/file/d/1r6awq3zeIQd3gOuxVkWai2JtKtwzvept/view?usp=drivesdk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ships.gov.in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fellowship.tribal.gov.in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bttribal.gov.in/" TargetMode="External"/><Relationship Id="rId5" Type="http://schemas.openxmlformats.org/officeDocument/2006/relationships/hyperlink" Target="https://overseas.tribal.gov.in/" TargetMode="External"/><Relationship Id="rId4" Type="http://schemas.openxmlformats.org/officeDocument/2006/relationships/hyperlink" Target="https://tribal.nic.in/ScholarshiP.asp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959969" y="990067"/>
            <a:ext cx="12618720" cy="1445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endParaRPr/>
          </a:p>
          <a:p>
            <a:pPr algn="ctr">
              <a:lnSpc>
                <a:spcPts val="5760"/>
              </a:lnSpc>
            </a:pPr>
            <a:endParaRPr lang="en-US" sz="4800" b="1">
              <a:solidFill>
                <a:srgbClr val="000000"/>
              </a:solidFill>
              <a:latin typeface="Times New Roman Bold" panose="02020803070505020304"/>
              <a:ea typeface="Times New Roman Bold" panose="02020803070505020304"/>
              <a:cs typeface="Times New Roman Bold" panose="02020803070505020304"/>
              <a:sym typeface="Times New Roman Bold" panose="02020803070505020304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2657037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SMART INDIA HACKATHON 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Freeform 2"/>
          <p:cNvSpPr/>
          <p:nvPr/>
        </p:nvSpPr>
        <p:spPr>
          <a:xfrm>
            <a:off x="8477217" y="840048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4BB156-FE37-DB7C-064B-E0FECAC589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2687" y="2345055"/>
            <a:ext cx="5000625" cy="535305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" y="1714500"/>
            <a:ext cx="17754600" cy="10095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 dirty="0"/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Problem Statement ID –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SIH26238</a:t>
            </a: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Problem Statement Title -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Unified Scholarship Mobile</a:t>
            </a: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16865" lvl="1" algn="just">
              <a:lnSpc>
                <a:spcPts val="8400"/>
              </a:lnSpc>
            </a:pP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   Application  for Tribal Students</a:t>
            </a: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Theme -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Smart Automation</a:t>
            </a: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PS Category -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Software</a:t>
            </a: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Team ID -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DCSIH1141</a:t>
            </a:r>
            <a:endParaRPr lang="en-US" altLang="en-US" sz="3500" dirty="0">
              <a:solidFill>
                <a:srgbClr val="000000"/>
              </a:solidFill>
              <a:latin typeface="Calibri"/>
              <a:ea typeface="Calibri"/>
              <a:cs typeface="Calibri"/>
              <a:sym typeface="Arial Bold" panose="020B0704020202020204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Team Name – </a:t>
            </a:r>
            <a:r>
              <a:rPr lang="en-US" sz="35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Arial Bold" panose="020B0704020202020204"/>
              </a:rPr>
              <a:t>INFINOVA DACE </a:t>
            </a: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  <a:sym typeface="Arial Bold" panose="020B0704020202020204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endParaRPr lang="en-US" sz="3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409A6-8C48-F58C-0B92-C6490F2ABE55}"/>
              </a:ext>
            </a:extLst>
          </p:cNvPr>
          <p:cNvSpPr txBox="1"/>
          <p:nvPr/>
        </p:nvSpPr>
        <p:spPr>
          <a:xfrm>
            <a:off x="5715000" y="1259566"/>
            <a:ext cx="478536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 algn="just">
              <a:lnSpc>
                <a:spcPts val="3500"/>
              </a:lnSpc>
            </a:pPr>
            <a:r>
              <a:rPr lang="en-IN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   TRIBAL SCHOLARSHIP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">
            <a:extLst>
              <a:ext uri="{FF2B5EF4-FFF2-40B4-BE49-F238E27FC236}">
                <a16:creationId xmlns:a16="http://schemas.microsoft.com/office/drawing/2014/main" id="{BB814C95-A450-EDB2-F6AE-564DBC5FEE26}"/>
              </a:ext>
            </a:extLst>
          </p:cNvPr>
          <p:cNvGrpSpPr/>
          <p:nvPr/>
        </p:nvGrpSpPr>
        <p:grpSpPr>
          <a:xfrm>
            <a:off x="14670129" y="2248"/>
            <a:ext cx="3374802" cy="1593533"/>
            <a:chOff x="0" y="0"/>
            <a:chExt cx="4499737" cy="2124710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E98A50B0-C081-7073-8552-942CC194A7C0}"/>
                </a:ext>
              </a:extLst>
            </p:cNvPr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2">
            <a:extLst>
              <a:ext uri="{FF2B5EF4-FFF2-40B4-BE49-F238E27FC236}">
                <a16:creationId xmlns:a16="http://schemas.microsoft.com/office/drawing/2014/main" id="{BB0BF98F-D91D-A03B-7D11-1BF45FD741B2}"/>
              </a:ext>
            </a:extLst>
          </p:cNvPr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426A3A0B-3C0F-C6E7-B251-9506B5F5715D}"/>
                </a:ext>
              </a:extLst>
            </p:cNvPr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652C7FB-DD56-5A84-CFC7-A076EE47CFEE}"/>
              </a:ext>
            </a:extLst>
          </p:cNvPr>
          <p:cNvSpPr txBox="1"/>
          <p:nvPr/>
        </p:nvSpPr>
        <p:spPr>
          <a:xfrm>
            <a:off x="13106400" y="9520237"/>
            <a:ext cx="4267200" cy="561976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r">
              <a:lnSpc>
                <a:spcPts val="2160"/>
              </a:lnSpc>
            </a:pPr>
            <a:r>
              <a:rPr lang="en-US" b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Arimo Bold" panose="020B0704020202020204"/>
              </a:rPr>
              <a:t>2</a:t>
            </a:r>
            <a:endParaRPr lang="en-US" sz="1800" b="1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  <a:cs typeface="Arimo Bold" panose="020B070402020202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46F62F-157E-A8F0-438C-12AEB6172214}"/>
              </a:ext>
            </a:extLst>
          </p:cNvPr>
          <p:cNvSpPr txBox="1"/>
          <p:nvPr/>
        </p:nvSpPr>
        <p:spPr>
          <a:xfrm>
            <a:off x="4968240" y="402878"/>
            <a:ext cx="91287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5400" b="1">
                <a:latin typeface="Cambria"/>
                <a:ea typeface="Cambria"/>
              </a:rPr>
              <a:t>PROBLEM STATEMENT</a:t>
            </a:r>
            <a:endParaRPr lang="en-US" sz="5400"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6A65AC-A050-A108-A378-92A3792A910F}"/>
              </a:ext>
            </a:extLst>
          </p:cNvPr>
          <p:cNvSpPr txBox="1"/>
          <p:nvPr/>
        </p:nvSpPr>
        <p:spPr>
          <a:xfrm>
            <a:off x="1386090" y="142809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39750" indent="-269875" algn="l">
              <a:lnSpc>
                <a:spcPts val="3500"/>
              </a:lnSpc>
              <a:buFont typeface="Arial" panose="020B0604020202020204"/>
              <a:buChar char="•"/>
            </a:pPr>
            <a:endParaRPr lang="en-US" sz="25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grpSp>
        <p:nvGrpSpPr>
          <p:cNvPr id="19" name="Group 14">
            <a:extLst>
              <a:ext uri="{FF2B5EF4-FFF2-40B4-BE49-F238E27FC236}">
                <a16:creationId xmlns:a16="http://schemas.microsoft.com/office/drawing/2014/main" id="{BA858469-16E9-1A12-0C5A-D93AB710C1E4}"/>
              </a:ext>
            </a:extLst>
          </p:cNvPr>
          <p:cNvGrpSpPr/>
          <p:nvPr/>
        </p:nvGrpSpPr>
        <p:grpSpPr>
          <a:xfrm>
            <a:off x="475612" y="316458"/>
            <a:ext cx="1915888" cy="1291972"/>
            <a:chOff x="0" y="-57150"/>
            <a:chExt cx="2554516" cy="1722628"/>
          </a:xfrm>
        </p:grpSpPr>
        <p:sp>
          <p:nvSpPr>
            <p:cNvPr id="17" name="Freeform 15" descr="Your startup LOGO">
              <a:extLst>
                <a:ext uri="{FF2B5EF4-FFF2-40B4-BE49-F238E27FC236}">
                  <a16:creationId xmlns:a16="http://schemas.microsoft.com/office/drawing/2014/main" id="{9C62A264-E5CE-09A1-7892-69F4CF4D1082}"/>
                </a:ext>
              </a:extLst>
            </p:cNvPr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16">
              <a:extLst>
                <a:ext uri="{FF2B5EF4-FFF2-40B4-BE49-F238E27FC236}">
                  <a16:creationId xmlns:a16="http://schemas.microsoft.com/office/drawing/2014/main" id="{AB8410AA-B796-4105-526A-432E415B8995}"/>
                </a:ext>
              </a:extLst>
            </p:cNvPr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4BCF89F7-3990-247E-9A78-0B64B691A1D7}"/>
              </a:ext>
            </a:extLst>
          </p:cNvPr>
          <p:cNvSpPr/>
          <p:nvPr/>
        </p:nvSpPr>
        <p:spPr>
          <a:xfrm>
            <a:off x="476528" y="2136742"/>
            <a:ext cx="7855444" cy="30031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C858895-0AB4-06E0-BD92-4778BE21AE38}"/>
              </a:ext>
            </a:extLst>
          </p:cNvPr>
          <p:cNvSpPr/>
          <p:nvPr/>
        </p:nvSpPr>
        <p:spPr>
          <a:xfrm>
            <a:off x="476527" y="5809582"/>
            <a:ext cx="7855444" cy="30031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="1" dirty="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Why is it so important?</a:t>
            </a:r>
          </a:p>
          <a:p>
            <a:endParaRPr lang="en-US" sz="2700" dirty="0">
              <a:solidFill>
                <a:schemeClr val="tx1"/>
              </a:solidFill>
              <a:latin typeface="Cambria"/>
              <a:ea typeface="Cambria"/>
              <a:cs typeface="+mn-lt"/>
            </a:endParaRPr>
          </a:p>
          <a:p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Lack of awareness, complex 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eligibility</a:t>
            </a:r>
          </a:p>
          <a:p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requirements, repeated paperwork, 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and 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scattered information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 can cause eligible students to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 miss valuable financial support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  <a:cs typeface="+mn-lt"/>
              </a:rPr>
              <a:t> for their education.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81DEF1B-6FD1-91CF-21ED-F93A004769A6}"/>
              </a:ext>
            </a:extLst>
          </p:cNvPr>
          <p:cNvSpPr/>
          <p:nvPr/>
        </p:nvSpPr>
        <p:spPr>
          <a:xfrm>
            <a:off x="9529087" y="2136742"/>
            <a:ext cx="7855444" cy="30031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Who faces this problem ?</a:t>
            </a:r>
          </a:p>
          <a:p>
            <a:endParaRPr lang="en-US" sz="2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r>
              <a:rPr lang="en-US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Tribal students</a:t>
            </a:r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particularly those from</a:t>
            </a:r>
          </a:p>
          <a:p>
            <a:r>
              <a:rPr lang="en-US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rural, remote, and underserved areas</a:t>
            </a:r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who often have limited access to </a:t>
            </a:r>
            <a:r>
              <a:rPr lang="en-US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reliable scholarship</a:t>
            </a:r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information</a:t>
            </a:r>
            <a:r>
              <a:rPr lang="en-US" sz="27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and digital support.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5997C85-0071-AE41-AAA6-FB4F63577480}"/>
              </a:ext>
            </a:extLst>
          </p:cNvPr>
          <p:cNvSpPr/>
          <p:nvPr/>
        </p:nvSpPr>
        <p:spPr>
          <a:xfrm>
            <a:off x="9529087" y="5809582"/>
            <a:ext cx="7855444" cy="300319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3000" b="1" dirty="0">
                <a:solidFill>
                  <a:schemeClr val="tx1"/>
                </a:solidFill>
                <a:latin typeface="Cambria"/>
                <a:ea typeface="Cambria"/>
              </a:rPr>
              <a:t>Our Solution </a:t>
            </a:r>
            <a:endParaRPr lang="en-US" sz="3000" b="1" dirty="0">
              <a:solidFill>
                <a:schemeClr val="tx1"/>
              </a:solidFill>
              <a:latin typeface="Cambria"/>
              <a:ea typeface="Cambria"/>
              <a:cs typeface="Calibri"/>
            </a:endParaRPr>
          </a:p>
          <a:p>
            <a:endParaRPr lang="en-US" sz="2700" b="1" dirty="0">
              <a:solidFill>
                <a:schemeClr val="tx1"/>
              </a:solidFill>
              <a:latin typeface="Cambria"/>
              <a:ea typeface="Cambria"/>
            </a:endParaRPr>
          </a:p>
          <a:p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</a:rPr>
              <a:t>Tribal Scholar 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</a:rPr>
              <a:t>is a unified, student-friendly platform that brings 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</a:rPr>
              <a:t>scholarship discovery, eligibility checking, application guidance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</a:rPr>
              <a:t>, and 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</a:rPr>
              <a:t>application tracking together in</a:t>
            </a:r>
            <a:r>
              <a:rPr lang="en-US" sz="2700" dirty="0">
                <a:solidFill>
                  <a:schemeClr val="tx1"/>
                </a:solidFill>
                <a:latin typeface="Cambria"/>
                <a:ea typeface="Cambria"/>
              </a:rPr>
              <a:t> </a:t>
            </a:r>
            <a:r>
              <a:rPr lang="en-US" sz="2700" b="1" dirty="0">
                <a:solidFill>
                  <a:schemeClr val="tx1"/>
                </a:solidFill>
                <a:latin typeface="Cambria"/>
                <a:ea typeface="Cambria"/>
              </a:rPr>
              <a:t>one place</a:t>
            </a:r>
            <a:endParaRPr lang="en-US" sz="2700" b="1" dirty="0">
              <a:solidFill>
                <a:schemeClr val="tx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F1E7C8-11E1-C77A-79E9-113724A383B3}"/>
              </a:ext>
            </a:extLst>
          </p:cNvPr>
          <p:cNvSpPr txBox="1"/>
          <p:nvPr/>
        </p:nvSpPr>
        <p:spPr>
          <a:xfrm>
            <a:off x="644778" y="2356568"/>
            <a:ext cx="7687193" cy="25391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What problem are you solving ?</a:t>
            </a:r>
          </a:p>
          <a:p>
            <a:endParaRPr lang="en-US" sz="2700" dirty="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+mn-lt"/>
            </a:endParaRPr>
          </a:p>
          <a:p>
            <a:r>
              <a:rPr lang="en-US" sz="27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Tribal students</a:t>
            </a:r>
            <a:r>
              <a:rPr lang="en-US" sz="27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 face difficulty in discovering suitable scholarships, understanding </a:t>
            </a:r>
            <a:r>
              <a:rPr lang="en-US" sz="27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eligibility criteria, completing applications</a:t>
            </a:r>
            <a:r>
              <a:rPr lang="en-US" sz="27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, and tracking their application status across </a:t>
            </a:r>
            <a:r>
              <a:rPr lang="en-US" sz="2700" b="1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+mn-lt"/>
              </a:rPr>
              <a:t>multiple platforms</a:t>
            </a:r>
            <a:r>
              <a:rPr lang="en-US" sz="27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20204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Diagonal Corners Rounded 55">
            <a:extLst>
              <a:ext uri="{FF2B5EF4-FFF2-40B4-BE49-F238E27FC236}">
                <a16:creationId xmlns:a16="http://schemas.microsoft.com/office/drawing/2014/main" id="{A86AE312-C4DF-A093-A882-0775B7F6C5B7}"/>
              </a:ext>
            </a:extLst>
          </p:cNvPr>
          <p:cNvSpPr/>
          <p:nvPr/>
        </p:nvSpPr>
        <p:spPr>
          <a:xfrm>
            <a:off x="12617228" y="7106048"/>
            <a:ext cx="3570233" cy="2717246"/>
          </a:xfrm>
          <a:prstGeom prst="round2Diag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6D85AB4-BCCF-2D55-2CD3-CAB046B02E5F}"/>
              </a:ext>
            </a:extLst>
          </p:cNvPr>
          <p:cNvSpPr/>
          <p:nvPr/>
        </p:nvSpPr>
        <p:spPr>
          <a:xfrm>
            <a:off x="247420" y="7724607"/>
            <a:ext cx="4410288" cy="193212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914400" y="-23907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TECHNICAL </a:t>
              </a:r>
              <a:r>
                <a:rPr lang="en-IN" alt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 </a:t>
              </a: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APPROACH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08389" y="36358"/>
            <a:ext cx="1915887" cy="1371019"/>
            <a:chOff x="0" y="-162560"/>
            <a:chExt cx="2554516" cy="182802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-162560"/>
              <a:ext cx="2554479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3272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5BECA2-D626-C2D9-47F0-0EE39350C340}"/>
              </a:ext>
            </a:extLst>
          </p:cNvPr>
          <p:cNvSpPr/>
          <p:nvPr/>
        </p:nvSpPr>
        <p:spPr>
          <a:xfrm>
            <a:off x="315020" y="2308278"/>
            <a:ext cx="4221275" cy="1953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React.js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TypeScript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HTML &amp; CSS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8E1BC29-E16F-6DD2-D357-EC743637DC18}"/>
              </a:ext>
            </a:extLst>
          </p:cNvPr>
          <p:cNvSpPr/>
          <p:nvPr/>
        </p:nvSpPr>
        <p:spPr>
          <a:xfrm>
            <a:off x="325335" y="2005440"/>
            <a:ext cx="4221275" cy="63004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Frontend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7CD917A-A91F-19C0-A31A-709022A92CE5}"/>
              </a:ext>
            </a:extLst>
          </p:cNvPr>
          <p:cNvSpPr/>
          <p:nvPr/>
        </p:nvSpPr>
        <p:spPr>
          <a:xfrm>
            <a:off x="4746101" y="2308277"/>
            <a:ext cx="4221275" cy="1953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Node.js</a:t>
            </a:r>
          </a:p>
          <a:p>
            <a:pPr marL="285750" indent="-285750">
              <a:buFont typeface="Arial"/>
              <a:buChar char="•"/>
            </a:pPr>
            <a:r>
              <a:rPr lang="en-US" sz="25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Express.js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530A7DD-5CEC-D508-A7ED-1CA61AE745B8}"/>
              </a:ext>
            </a:extLst>
          </p:cNvPr>
          <p:cNvSpPr/>
          <p:nvPr/>
        </p:nvSpPr>
        <p:spPr>
          <a:xfrm>
            <a:off x="4756416" y="1989782"/>
            <a:ext cx="4221275" cy="63004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Backend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4C0584-E27B-0097-01B9-60765995F227}"/>
              </a:ext>
            </a:extLst>
          </p:cNvPr>
          <p:cNvSpPr/>
          <p:nvPr/>
        </p:nvSpPr>
        <p:spPr>
          <a:xfrm>
            <a:off x="9161525" y="2323934"/>
            <a:ext cx="4221275" cy="1953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285750" indent="-285750">
              <a:buFont typeface="Arial"/>
              <a:buChar char="•"/>
            </a:pPr>
            <a:r>
              <a:rPr lang="en-US" sz="2500" dirty="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CSS</a:t>
            </a:r>
          </a:p>
          <a:p>
            <a:pPr marL="285750" indent="-285750">
              <a:buFont typeface="Arial"/>
              <a:buChar char="•"/>
            </a:pPr>
            <a:r>
              <a:rPr lang="en-US" sz="2500" dirty="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JavaScript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A456A-1C1A-D307-CEED-6EEA64356C58}"/>
              </a:ext>
            </a:extLst>
          </p:cNvPr>
          <p:cNvSpPr/>
          <p:nvPr/>
        </p:nvSpPr>
        <p:spPr>
          <a:xfrm>
            <a:off x="9156182" y="1989781"/>
            <a:ext cx="4221275" cy="63004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Styling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B308A7-2D9B-CE20-D844-3D406DE1FD50}"/>
              </a:ext>
            </a:extLst>
          </p:cNvPr>
          <p:cNvSpPr/>
          <p:nvPr/>
        </p:nvSpPr>
        <p:spPr>
          <a:xfrm>
            <a:off x="13592607" y="2308276"/>
            <a:ext cx="4221275" cy="1953127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Arial"/>
              <a:buChar char="•"/>
            </a:pPr>
            <a:r>
              <a:rPr lang="en-IN" sz="3000" dirty="0" err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Vercel</a:t>
            </a:r>
            <a:endParaRPr lang="en-IN" sz="3000" dirty="0">
              <a:solidFill>
                <a:schemeClr val="tx1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ADA487E-8714-0349-6BE3-13B1CFEEB0D0}"/>
              </a:ext>
            </a:extLst>
          </p:cNvPr>
          <p:cNvSpPr/>
          <p:nvPr/>
        </p:nvSpPr>
        <p:spPr>
          <a:xfrm>
            <a:off x="13602922" y="1989781"/>
            <a:ext cx="4221275" cy="63004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Deployment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003EAF1-135D-28F1-6A25-4D005669BD01}"/>
              </a:ext>
            </a:extLst>
          </p:cNvPr>
          <p:cNvSpPr/>
          <p:nvPr/>
        </p:nvSpPr>
        <p:spPr>
          <a:xfrm>
            <a:off x="330676" y="5424125"/>
            <a:ext cx="3876809" cy="145208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Student/Admin Browser</a:t>
            </a:r>
            <a:endParaRPr lang="en-US" b="1">
              <a:solidFill>
                <a:schemeClr val="tx1"/>
              </a:solidFill>
              <a:ea typeface="Calibri"/>
              <a:cs typeface="Calibri"/>
            </a:endParaRP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Access the web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E857DF-3F51-3692-FE02-AE7028804DC9}"/>
              </a:ext>
            </a:extLst>
          </p:cNvPr>
          <p:cNvSpPr txBox="1"/>
          <p:nvPr/>
        </p:nvSpPr>
        <p:spPr>
          <a:xfrm>
            <a:off x="70975" y="4551577"/>
            <a:ext cx="7737953" cy="4488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3000" b="1">
                <a:latin typeface="Cambria"/>
                <a:ea typeface="Cambria"/>
              </a:rPr>
              <a:t> System Architecture Flow</a:t>
            </a:r>
            <a:endParaRPr lang="en-US" sz="3000" b="1">
              <a:ea typeface="Calibri"/>
              <a:cs typeface="Calibri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C0165A6-D969-D9F2-AD1F-9ADF974DF48F}"/>
              </a:ext>
            </a:extLst>
          </p:cNvPr>
          <p:cNvSpPr/>
          <p:nvPr/>
        </p:nvSpPr>
        <p:spPr>
          <a:xfrm>
            <a:off x="4542553" y="5424125"/>
            <a:ext cx="4017728" cy="145208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Frontend</a:t>
            </a: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React + TypeScript</a:t>
            </a: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Built with Vite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0985AD5-B384-DEF9-B631-1ED959C08317}"/>
              </a:ext>
            </a:extLst>
          </p:cNvPr>
          <p:cNvSpPr/>
          <p:nvPr/>
        </p:nvSpPr>
        <p:spPr>
          <a:xfrm>
            <a:off x="8973634" y="5424125"/>
            <a:ext cx="4205618" cy="1452086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Backend</a:t>
            </a: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Node.js + Express.js</a:t>
            </a: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(REST API)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249BE4C-BE33-0AC3-3031-1489E8997DA5}"/>
              </a:ext>
            </a:extLst>
          </p:cNvPr>
          <p:cNvSpPr/>
          <p:nvPr/>
        </p:nvSpPr>
        <p:spPr>
          <a:xfrm>
            <a:off x="13608263" y="5424124"/>
            <a:ext cx="4017728" cy="14520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Data Storage</a:t>
            </a:r>
          </a:p>
          <a:p>
            <a:pPr algn="ctr"/>
            <a:r>
              <a:rPr lang="en-US" sz="2500">
                <a:solidFill>
                  <a:schemeClr val="tx1">
                    <a:lumMod val="76000"/>
                    <a:lumOff val="24000"/>
                  </a:schemeClr>
                </a:solidFill>
                <a:latin typeface="Cambria"/>
                <a:ea typeface="Cambria"/>
                <a:cs typeface="Calibri"/>
              </a:rPr>
              <a:t>Schemes &amp; Application Records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C244F7-FBB8-625F-883B-25E6DD08BEF0}"/>
              </a:ext>
            </a:extLst>
          </p:cNvPr>
          <p:cNvCxnSpPr/>
          <p:nvPr/>
        </p:nvCxnSpPr>
        <p:spPr>
          <a:xfrm>
            <a:off x="4236931" y="6200746"/>
            <a:ext cx="325709" cy="53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CD2DBC-9A64-565D-6119-EBEB7E4823E3}"/>
              </a:ext>
            </a:extLst>
          </p:cNvPr>
          <p:cNvCxnSpPr>
            <a:cxnSpLocks/>
          </p:cNvCxnSpPr>
          <p:nvPr/>
        </p:nvCxnSpPr>
        <p:spPr>
          <a:xfrm flipV="1">
            <a:off x="8574068" y="6206099"/>
            <a:ext cx="403996" cy="103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FBD8379-D18B-B2BE-7D56-F80B2016274C}"/>
              </a:ext>
            </a:extLst>
          </p:cNvPr>
          <p:cNvCxnSpPr>
            <a:cxnSpLocks/>
          </p:cNvCxnSpPr>
          <p:nvPr/>
        </p:nvCxnSpPr>
        <p:spPr>
          <a:xfrm flipV="1">
            <a:off x="13193040" y="6190441"/>
            <a:ext cx="403996" cy="1030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A879424-25C6-A321-A66A-46BAD6B9E93A}"/>
              </a:ext>
            </a:extLst>
          </p:cNvPr>
          <p:cNvSpPr txBox="1"/>
          <p:nvPr/>
        </p:nvSpPr>
        <p:spPr>
          <a:xfrm>
            <a:off x="92379" y="1335640"/>
            <a:ext cx="2743200" cy="4488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3000" b="1">
                <a:solidFill>
                  <a:srgbClr val="000000"/>
                </a:solidFill>
                <a:latin typeface="Cambria"/>
                <a:ea typeface="Cambria"/>
                <a:cs typeface="Canva Sans" panose="020B0503030501040103"/>
              </a:rPr>
              <a:t>Tech Stack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D76F2BF-0011-96EF-C8EA-B229B03EEBB6}"/>
              </a:ext>
            </a:extLst>
          </p:cNvPr>
          <p:cNvSpPr txBox="1"/>
          <p:nvPr/>
        </p:nvSpPr>
        <p:spPr>
          <a:xfrm>
            <a:off x="14427" y="7066606"/>
            <a:ext cx="5906021" cy="4488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3000" b="1">
                <a:solidFill>
                  <a:srgbClr val="000000"/>
                </a:solidFill>
                <a:latin typeface="Cambria"/>
                <a:ea typeface="Cambria"/>
              </a:rPr>
              <a:t> Key Features  Implemented</a:t>
            </a:r>
            <a:r>
              <a:rPr lang="en-US" sz="3000">
                <a:solidFill>
                  <a:srgbClr val="000000"/>
                </a:solidFill>
                <a:latin typeface="Canva Sans" panose="020B0503030501040103"/>
              </a:rPr>
              <a:t> </a:t>
            </a:r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2A0BA4A-B2AB-E034-43D8-E49551C9839C}"/>
              </a:ext>
            </a:extLst>
          </p:cNvPr>
          <p:cNvSpPr txBox="1"/>
          <p:nvPr/>
        </p:nvSpPr>
        <p:spPr>
          <a:xfrm>
            <a:off x="132848" y="7731820"/>
            <a:ext cx="4402898" cy="17659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39750" indent="-269875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</a:rPr>
              <a:t>Eligibility Calculator</a:t>
            </a:r>
          </a:p>
          <a:p>
            <a:pPr marL="539750" indent="-269875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</a:rPr>
              <a:t>Scholarship Scheme List</a:t>
            </a:r>
          </a:p>
          <a:p>
            <a:pPr marL="539750" indent="-269875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</a:rPr>
              <a:t>Student/Admin Module</a:t>
            </a:r>
          </a:p>
          <a:p>
            <a:pPr marL="539750" indent="-269875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dirty="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</a:rPr>
              <a:t>Access Control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87040A-8AEA-0EC2-232A-76E971072239}"/>
              </a:ext>
            </a:extLst>
          </p:cNvPr>
          <p:cNvSpPr txBox="1"/>
          <p:nvPr/>
        </p:nvSpPr>
        <p:spPr>
          <a:xfrm>
            <a:off x="12797100" y="9303427"/>
            <a:ext cx="5044856" cy="419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</a:rPr>
              <a:t>Discover our solution</a:t>
            </a:r>
            <a:endParaRPr lang="en-US">
              <a:latin typeface="Cambria"/>
              <a:ea typeface="Cambri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2AE2FE-C9A5-1C40-761D-E31E6013C14F}"/>
              </a:ext>
            </a:extLst>
          </p:cNvPr>
          <p:cNvSpPr txBox="1"/>
          <p:nvPr/>
        </p:nvSpPr>
        <p:spPr>
          <a:xfrm>
            <a:off x="6020554" y="8061798"/>
            <a:ext cx="2743200" cy="4194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nva Sans" panose="020B0503030501040103"/>
                <a:ea typeface="Canva Sans" panose="020B0503030501040103"/>
                <a:cs typeface="Canva Sans" panose="020B0503030501040103"/>
              </a:rPr>
              <a:t>    </a:t>
            </a:r>
            <a:r>
              <a:rPr lang="en-US" sz="2500" b="1">
                <a:solidFill>
                  <a:srgbClr val="000000"/>
                </a:solidFill>
                <a:latin typeface="Cambria"/>
                <a:ea typeface="Cambria"/>
                <a:cs typeface="Canva Sans" panose="020B0503030501040103"/>
              </a:rPr>
              <a:t> Demo Video :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A1774A0-54CE-4E06-241B-9B078C281F89}"/>
              </a:ext>
            </a:extLst>
          </p:cNvPr>
          <p:cNvSpPr txBox="1"/>
          <p:nvPr/>
        </p:nvSpPr>
        <p:spPr>
          <a:xfrm>
            <a:off x="8408434" y="8064867"/>
            <a:ext cx="3541733" cy="4095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Cambria"/>
                <a:ea typeface="Cambria"/>
                <a:cs typeface="+mn-lt"/>
                <a:hlinkClick r:id="rId4"/>
              </a:rPr>
              <a:t>Click Here</a:t>
            </a:r>
            <a:endParaRPr lang="en-US" sz="2500">
              <a:solidFill>
                <a:srgbClr val="000000"/>
              </a:solidFill>
              <a:latin typeface="Cambria"/>
              <a:ea typeface="Cambria"/>
              <a:cs typeface="Calibri"/>
            </a:endParaRP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B610BC6-DA41-3944-0D08-2A407A524509}"/>
              </a:ext>
            </a:extLst>
          </p:cNvPr>
          <p:cNvSpPr/>
          <p:nvPr/>
        </p:nvSpPr>
        <p:spPr>
          <a:xfrm>
            <a:off x="147009" y="1407462"/>
            <a:ext cx="147009" cy="336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EC60ADCF-4B15-C826-CE67-89E6772E3CC5}"/>
              </a:ext>
            </a:extLst>
          </p:cNvPr>
          <p:cNvSpPr/>
          <p:nvPr/>
        </p:nvSpPr>
        <p:spPr>
          <a:xfrm>
            <a:off x="147009" y="4634756"/>
            <a:ext cx="147009" cy="336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A72FC62D-5576-2EA7-DD65-C357C176EECE}"/>
              </a:ext>
            </a:extLst>
          </p:cNvPr>
          <p:cNvSpPr/>
          <p:nvPr/>
        </p:nvSpPr>
        <p:spPr>
          <a:xfrm>
            <a:off x="147009" y="7122461"/>
            <a:ext cx="147009" cy="3360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153758-88DE-320F-2317-2F79C7CD81EA}"/>
              </a:ext>
            </a:extLst>
          </p:cNvPr>
          <p:cNvSpPr/>
          <p:nvPr/>
        </p:nvSpPr>
        <p:spPr>
          <a:xfrm>
            <a:off x="-11522" y="10051481"/>
            <a:ext cx="18319329" cy="47020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891D1-1E02-1BCD-49CB-7B70BE4FF33D}"/>
              </a:ext>
            </a:extLst>
          </p:cNvPr>
          <p:cNvSpPr txBox="1"/>
          <p:nvPr/>
        </p:nvSpPr>
        <p:spPr>
          <a:xfrm>
            <a:off x="15613354" y="10054456"/>
            <a:ext cx="2743200" cy="39626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69875" algn="l">
              <a:lnSpc>
                <a:spcPts val="3500"/>
              </a:lnSpc>
            </a:pPr>
            <a:r>
              <a:rPr lang="en-US">
                <a:solidFill>
                  <a:schemeClr val="bg1"/>
                </a:solidFill>
                <a:latin typeface="Cambria"/>
                <a:ea typeface="Cambria"/>
                <a:cs typeface="Canva Sans" panose="020B0503030501040103"/>
              </a:rPr>
              <a:t>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5D5774-753F-B2FA-85C3-54FCFCDB827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967" y="7328414"/>
            <a:ext cx="1962904" cy="19629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0" y="46551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5565" y="1771613"/>
            <a:ext cx="6814820" cy="768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IN" alt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TECHNICAL FEASIBILITY</a:t>
            </a:r>
            <a:r>
              <a:rPr lang="en-US" altLang="en-US" sz="3200" b="1">
                <a:solidFill>
                  <a:srgbClr val="000000"/>
                </a:solidFill>
                <a:latin typeface="Canva Sans Bold" panose="020B0803030501040103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:</a:t>
            </a:r>
            <a:endParaRPr lang="en-US" sz="3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2432729"/>
          <a:ext cx="7239000" cy="2745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3" name="TextBox 23"/>
          <p:cNvSpPr txBox="1"/>
          <p:nvPr/>
        </p:nvSpPr>
        <p:spPr>
          <a:xfrm>
            <a:off x="475611" y="5333683"/>
            <a:ext cx="5753737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Implementation Plan:</a:t>
            </a:r>
          </a:p>
        </p:txBody>
      </p:sp>
      <p:graphicFrame>
        <p:nvGraphicFramePr>
          <p:cNvPr id="27" name="Diagram 26"/>
          <p:cNvGraphicFramePr/>
          <p:nvPr/>
        </p:nvGraphicFramePr>
        <p:xfrm>
          <a:off x="76200" y="5362575"/>
          <a:ext cx="9834880" cy="4053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9478010" y="1647152"/>
            <a:ext cx="8505190" cy="6330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P</a:t>
            </a:r>
            <a:r>
              <a:rPr lang="en-IN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OSSIBLE CHALLENGES AND SOLUTIONS</a:t>
            </a:r>
            <a:r>
              <a:rPr 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239718"/>
              </p:ext>
            </p:extLst>
          </p:nvPr>
        </p:nvGraphicFramePr>
        <p:xfrm>
          <a:off x="9782175" y="2394338"/>
          <a:ext cx="8262756" cy="39538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1032">
                <a:tc>
                  <a:txBody>
                    <a:bodyPr/>
                    <a:lstStyle/>
                    <a:p>
                      <a:r>
                        <a:rPr lang="en-IN" sz="360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/>
                        <a:t>Our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46">
                <a:tc>
                  <a:txBody>
                    <a:bodyPr/>
                    <a:lstStyle/>
                    <a:p>
                      <a:r>
                        <a:rPr lang="en-IN" b="1"/>
                        <a:t>Different Government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Connect through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460">
                <a:tc>
                  <a:txBody>
                    <a:bodyPr/>
                    <a:lstStyle/>
                    <a:p>
                      <a:r>
                        <a:rPr lang="en-IN" b="1"/>
                        <a:t>Document/Verification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Standardized document checklist per scheme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24">
                <a:tc>
                  <a:txBody>
                    <a:bodyPr/>
                    <a:lstStyle/>
                    <a:p>
                      <a:r>
                        <a:rPr lang="en-IN" b="1"/>
                        <a:t>Data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i="0">
                          <a:effectLst/>
                        </a:rPr>
                        <a:t>Secure storage &amp; access control</a:t>
                      </a:r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460">
                <a:tc>
                  <a:txBody>
                    <a:bodyPr/>
                    <a:lstStyle/>
                    <a:p>
                      <a:r>
                        <a:rPr lang="en-IN" b="1" i="0">
                          <a:effectLst/>
                        </a:rPr>
                        <a:t>Application confusion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Step by step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02">
                <a:tc>
                  <a:txBody>
                    <a:bodyPr/>
                    <a:lstStyle/>
                    <a:p>
                      <a:r>
                        <a:rPr lang="en-IN" b="1"/>
                        <a:t>Poor internet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Lightweight , mobile-friendly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 Box 36"/>
          <p:cNvSpPr txBox="1"/>
          <p:nvPr/>
        </p:nvSpPr>
        <p:spPr>
          <a:xfrm>
            <a:off x="860611" y="5300382"/>
            <a:ext cx="5477510" cy="8870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endParaRPr lang="en-IN" altLang="en-US" sz="3200" b="1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IN" alt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IMPLEMENTATION PLAN: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20D6C31-AF84-C941-FB38-158BD8CD40EF}"/>
              </a:ext>
            </a:extLst>
          </p:cNvPr>
          <p:cNvSpPr/>
          <p:nvPr/>
        </p:nvSpPr>
        <p:spPr>
          <a:xfrm>
            <a:off x="911444" y="1974128"/>
            <a:ext cx="168010" cy="2730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CE77BA4-26D6-EC9D-DE2F-28782C7079AB}"/>
              </a:ext>
            </a:extLst>
          </p:cNvPr>
          <p:cNvSpPr/>
          <p:nvPr/>
        </p:nvSpPr>
        <p:spPr>
          <a:xfrm>
            <a:off x="9904165" y="1839657"/>
            <a:ext cx="168010" cy="2730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D6A9D32-AE03-E59A-9F48-EB1277466589}"/>
              </a:ext>
            </a:extLst>
          </p:cNvPr>
          <p:cNvSpPr/>
          <p:nvPr/>
        </p:nvSpPr>
        <p:spPr>
          <a:xfrm>
            <a:off x="911443" y="5840157"/>
            <a:ext cx="168010" cy="27301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EC4A878-7A2A-66EC-6705-D1A24464A87E}"/>
              </a:ext>
            </a:extLst>
          </p:cNvPr>
          <p:cNvSpPr/>
          <p:nvPr/>
        </p:nvSpPr>
        <p:spPr>
          <a:xfrm>
            <a:off x="10907518" y="6854374"/>
            <a:ext cx="6006392" cy="203044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2500" b="1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KEY TAKEAWAY :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Easy scholarship discovery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Quick Eligibility check</a:t>
            </a:r>
          </a:p>
          <a:p>
            <a:pPr marL="342900" indent="-342900">
              <a:buFont typeface="Arial"/>
              <a:buChar char="•"/>
            </a:pPr>
            <a:r>
              <a:rPr lang="en-US" sz="2800">
                <a:solidFill>
                  <a:schemeClr val="tx1"/>
                </a:solidFill>
                <a:latin typeface="Cambria"/>
                <a:ea typeface="Cambria"/>
                <a:cs typeface="Calibri"/>
              </a:rPr>
              <a:t>Secured Student access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65679" y="-4203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5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972300" y="9534525"/>
            <a:ext cx="4806315" cy="548005"/>
          </a:xfrm>
          <a:custGeom>
            <a:avLst/>
            <a:gdLst/>
            <a:ahLst/>
            <a:cxnLst/>
            <a:rect l="l" t="t" r="r" b="b"/>
            <a:pathLst>
              <a:path w="6408000" h="730250">
                <a:moveTo>
                  <a:pt x="0" y="0"/>
                </a:moveTo>
                <a:lnTo>
                  <a:pt x="6408000" y="0"/>
                </a:lnTo>
                <a:lnTo>
                  <a:pt x="64080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20982" b="-12098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380997" y="402501"/>
            <a:ext cx="1915887" cy="1249099"/>
            <a:chOff x="0" y="0"/>
            <a:chExt cx="2554516" cy="16654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8C81A39E-033F-28E3-A205-3A510A6D6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" y="2306955"/>
            <a:ext cx="5467350" cy="315849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EA793B9-B452-9B72-6F97-1DE4C7297F5E}"/>
              </a:ext>
            </a:extLst>
          </p:cNvPr>
          <p:cNvSpPr txBox="1"/>
          <p:nvPr/>
        </p:nvSpPr>
        <p:spPr>
          <a:xfrm>
            <a:off x="762000" y="2720340"/>
            <a:ext cx="5212080" cy="27277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 Who Benefits?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buFont typeface="Arial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Tribal Students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buFont typeface="Arial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Parents and Families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buFont typeface="Arial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Schools and Colleges</a:t>
            </a:r>
            <a:endParaRPr lang="en-US" sz="3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3210" indent="-283210">
              <a:buFont typeface="Arial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Government Bodies</a:t>
            </a:r>
            <a:endParaRPr lang="en-US" sz="3000">
              <a:ea typeface="Calibri"/>
              <a:cs typeface="Calibri"/>
            </a:endParaRP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endParaRPr lang="en-US" sz="25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A2704C8-FE47-2EB0-572B-3AB497F7C5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2291715"/>
            <a:ext cx="5406390" cy="315849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50CFCE6-6252-D1C6-0352-D90BB5A5C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3445" y="2306955"/>
            <a:ext cx="5223510" cy="31432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443822E3-8E84-9DCF-C966-795B3A28C2E0}"/>
              </a:ext>
            </a:extLst>
          </p:cNvPr>
          <p:cNvSpPr txBox="1"/>
          <p:nvPr/>
        </p:nvSpPr>
        <p:spPr>
          <a:xfrm>
            <a:off x="6964679" y="2587438"/>
            <a:ext cx="5397202" cy="26990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 Expected Impacts</a:t>
            </a:r>
          </a:p>
          <a:p>
            <a:pPr marL="228600" indent="-228600">
              <a:buFont typeface="Arial" panose="020B0604020202020204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Higher Scholarship Uptake</a:t>
            </a:r>
          </a:p>
          <a:p>
            <a:pPr marL="228600" indent="-228600">
              <a:buFont typeface="Arial" panose="020B0604020202020204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Fewer Rejected Forms</a:t>
            </a:r>
          </a:p>
          <a:p>
            <a:pPr marL="228600" indent="-228600">
              <a:buFont typeface="Arial" panose="020B0604020202020204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Reduced Missed Deadlines</a:t>
            </a:r>
          </a:p>
          <a:p>
            <a:pPr marL="228600" indent="-228600">
              <a:buFont typeface="Arial" panose="020B0604020202020204"/>
              <a:buChar char="•"/>
            </a:pPr>
            <a:r>
              <a:rPr lang="en-US" sz="300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Transparent Tracking</a:t>
            </a:r>
            <a:endParaRPr lang="en-US" sz="3000" kern="1200">
              <a:solidFill>
                <a:srgbClr val="262626"/>
              </a:solidFill>
              <a:latin typeface="Cambria"/>
              <a:ea typeface="Cambria"/>
              <a:cs typeface="Arial"/>
            </a:endParaRP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endParaRPr lang="en-US" sz="2500">
              <a:solidFill>
                <a:srgbClr val="000000"/>
              </a:solidFill>
              <a:latin typeface="ＭＳ Ｐゴシック"/>
              <a:ea typeface="ＭＳ Ｐゴシック"/>
              <a:cs typeface="Arial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9F5643-68BE-93DE-2E97-DBA46ED1D67B}"/>
              </a:ext>
            </a:extLst>
          </p:cNvPr>
          <p:cNvSpPr txBox="1"/>
          <p:nvPr/>
        </p:nvSpPr>
        <p:spPr>
          <a:xfrm>
            <a:off x="12861576" y="2689860"/>
            <a:ext cx="4663303" cy="2266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3000" b="1" i="0" kern="1200" dirty="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Real-World Applications</a:t>
            </a:r>
          </a:p>
          <a:p>
            <a:pPr marL="228600" indent="-228600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Tribal Welfare Depts</a:t>
            </a:r>
          </a:p>
          <a:p>
            <a:pPr marL="228600" indent="-228600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EMRS and ashram Schools</a:t>
            </a:r>
          </a:p>
          <a:p>
            <a:pPr marL="228600" indent="-228600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NGOs and CSR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endParaRPr lang="en-US" sz="2500" dirty="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BFEFC81-A70D-1AD4-40F9-DC0F50611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285" y="5934075"/>
            <a:ext cx="5467350" cy="286893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8416D7A-9539-4605-9F97-4052DCFC7659}"/>
              </a:ext>
            </a:extLst>
          </p:cNvPr>
          <p:cNvSpPr txBox="1"/>
          <p:nvPr/>
        </p:nvSpPr>
        <p:spPr>
          <a:xfrm>
            <a:off x="620456" y="6120790"/>
            <a:ext cx="33528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000" b="1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  </a:t>
            </a:r>
            <a:r>
              <a:rPr lang="en-US" sz="3000" b="1" kern="120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Future Scopes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FF39B66-540C-3ABD-AAC8-AD75805BAEFF}"/>
              </a:ext>
            </a:extLst>
          </p:cNvPr>
          <p:cNvSpPr txBox="1"/>
          <p:nvPr/>
        </p:nvSpPr>
        <p:spPr>
          <a:xfrm>
            <a:off x="325181" y="6594362"/>
            <a:ext cx="5467349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12775" indent="-342900" algn="just">
              <a:lnSpc>
                <a:spcPts val="3500"/>
              </a:lnSpc>
              <a:buFont typeface="Arial"/>
              <a:buChar char="•"/>
            </a:pPr>
            <a:r>
              <a:rPr lang="en-IN" sz="3000">
                <a:solidFill>
                  <a:srgbClr val="000000"/>
                </a:solidFill>
                <a:latin typeface="Cambria"/>
                <a:ea typeface="Cambria"/>
              </a:rPr>
              <a:t>Offline Mode</a:t>
            </a:r>
            <a:endParaRPr lang="en-US" sz="3000">
              <a:latin typeface="Cambria"/>
              <a:ea typeface="Cambria"/>
              <a:cs typeface="Calibri"/>
            </a:endParaRPr>
          </a:p>
          <a:p>
            <a:pPr marL="612775" indent="-342900" algn="just">
              <a:lnSpc>
                <a:spcPts val="3500"/>
              </a:lnSpc>
              <a:buFont typeface="Arial"/>
              <a:buChar char="•"/>
            </a:pPr>
            <a:r>
              <a:rPr lang="en-IN" sz="3000">
                <a:solidFill>
                  <a:srgbClr val="000000"/>
                </a:solidFill>
                <a:latin typeface="Cambria"/>
                <a:ea typeface="Cambria"/>
              </a:rPr>
              <a:t>SMS alerts</a:t>
            </a:r>
            <a:endParaRPr lang="en-IN" sz="3000">
              <a:latin typeface="Cambria"/>
              <a:ea typeface="Cambria"/>
              <a:cs typeface="Calibri"/>
            </a:endParaRPr>
          </a:p>
          <a:p>
            <a:pPr marL="612775" indent="-342900" algn="just">
              <a:lnSpc>
                <a:spcPts val="3500"/>
              </a:lnSpc>
              <a:buFont typeface="Arial"/>
              <a:buChar char="•"/>
            </a:pPr>
            <a:r>
              <a:rPr lang="en-IN" sz="3000">
                <a:solidFill>
                  <a:srgbClr val="000000"/>
                </a:solidFill>
                <a:latin typeface="Cambria"/>
                <a:ea typeface="Cambria"/>
                <a:cs typeface="Canva Sans" panose="020B0503030501040103"/>
              </a:rPr>
              <a:t>Voice assistant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665F14F-2E87-2ACF-25F9-3990069B7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5934075"/>
            <a:ext cx="5406390" cy="2868930"/>
          </a:xfrm>
          <a:prstGeom prst="rect">
            <a:avLst/>
          </a:prstGeom>
        </p:spPr>
      </p:pic>
      <p:pic>
        <p:nvPicPr>
          <p:cNvPr id="22" name="Picture 21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F2B08468-78F4-F4DB-1FFC-8EA0EEC38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3445" y="5934075"/>
            <a:ext cx="5406390" cy="286893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E41BB1B-16C1-3931-E6B2-78402C303C68}"/>
              </a:ext>
            </a:extLst>
          </p:cNvPr>
          <p:cNvSpPr txBox="1"/>
          <p:nvPr/>
        </p:nvSpPr>
        <p:spPr>
          <a:xfrm>
            <a:off x="7022279" y="6118860"/>
            <a:ext cx="4332415" cy="2266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3000" b="1" i="0" kern="1200" dirty="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Additional Features</a:t>
            </a:r>
          </a:p>
          <a:p>
            <a:pPr marL="283210" indent="-283210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Student/Admin access</a:t>
            </a:r>
          </a:p>
          <a:p>
            <a:pPr marL="283210" indent="-283210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Admin Analytics</a:t>
            </a:r>
          </a:p>
          <a:p>
            <a:pPr marL="283210" indent="-283210" algn="l" rtl="0">
              <a:buFont typeface="Arial"/>
              <a:buChar char="•"/>
            </a:pPr>
            <a:r>
              <a:rPr lang="en-US" sz="30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In app notifications</a:t>
            </a:r>
            <a:endParaRPr lang="en-US" sz="3000" kern="1200" dirty="0">
              <a:solidFill>
                <a:srgbClr val="262626"/>
              </a:solidFill>
              <a:latin typeface="Cambria"/>
              <a:ea typeface="Cambria"/>
              <a:cs typeface="Arial"/>
            </a:endParaRP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endParaRPr lang="en-US" sz="2500" dirty="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C74C6D-AFAB-2C20-848F-5EDB0DF17E91}"/>
              </a:ext>
            </a:extLst>
          </p:cNvPr>
          <p:cNvSpPr txBox="1"/>
          <p:nvPr/>
        </p:nvSpPr>
        <p:spPr>
          <a:xfrm>
            <a:off x="12794067" y="6057900"/>
            <a:ext cx="5177119" cy="22660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3000" b="1" kern="1200" dirty="0">
                <a:solidFill>
                  <a:srgbClr val="0070C0"/>
                </a:solidFill>
                <a:latin typeface="Cambria"/>
                <a:ea typeface="Cambria"/>
                <a:cs typeface="Arial"/>
              </a:rPr>
              <a:t>Student Support</a:t>
            </a:r>
          </a:p>
          <a:p>
            <a:pPr marL="347345" indent="-347345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Application Status Tracking</a:t>
            </a:r>
          </a:p>
          <a:p>
            <a:pPr marL="347345" indent="-347345" algn="l" rtl="0">
              <a:buFont typeface="Arial"/>
              <a:buChar char="•"/>
            </a:pPr>
            <a:r>
              <a:rPr lang="en-US" sz="3000" i="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Deadline Reminders</a:t>
            </a:r>
          </a:p>
          <a:p>
            <a:pPr marL="347345" indent="-347345" algn="l" rtl="0">
              <a:buFont typeface="Arial"/>
              <a:buChar char="•"/>
            </a:pPr>
            <a:r>
              <a:rPr lang="en-US" sz="3000" kern="1200" dirty="0">
                <a:solidFill>
                  <a:srgbClr val="262626"/>
                </a:solidFill>
                <a:latin typeface="Cambria"/>
                <a:ea typeface="Cambria"/>
                <a:cs typeface="Arial"/>
              </a:rPr>
              <a:t>Scholarship Guidance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endParaRPr lang="en-US" sz="2500" dirty="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B3BAE00-65A8-C902-6A49-7200C171111E}"/>
              </a:ext>
            </a:extLst>
          </p:cNvPr>
          <p:cNvSpPr/>
          <p:nvPr/>
        </p:nvSpPr>
        <p:spPr>
          <a:xfrm>
            <a:off x="630040" y="2767950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21FCEF7-56B8-1A62-BCC4-B7A983080E0D}"/>
              </a:ext>
            </a:extLst>
          </p:cNvPr>
          <p:cNvSpPr/>
          <p:nvPr/>
        </p:nvSpPr>
        <p:spPr>
          <a:xfrm>
            <a:off x="562804" y="6196950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E3F6B9B-ECC3-5BC9-352E-5AC83ECB77CF}"/>
              </a:ext>
            </a:extLst>
          </p:cNvPr>
          <p:cNvSpPr/>
          <p:nvPr/>
        </p:nvSpPr>
        <p:spPr>
          <a:xfrm>
            <a:off x="6798877" y="6196949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912C4E3-558A-BADD-C5BA-1AB25FA9F63D}"/>
              </a:ext>
            </a:extLst>
          </p:cNvPr>
          <p:cNvSpPr/>
          <p:nvPr/>
        </p:nvSpPr>
        <p:spPr>
          <a:xfrm>
            <a:off x="6798877" y="2734330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AF9A92A-405A-BAF5-1BB3-59F8294EBE02}"/>
              </a:ext>
            </a:extLst>
          </p:cNvPr>
          <p:cNvSpPr/>
          <p:nvPr/>
        </p:nvSpPr>
        <p:spPr>
          <a:xfrm>
            <a:off x="12651037" y="2764810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8031BB5-A365-F8F9-A18D-7988104F04C1}"/>
              </a:ext>
            </a:extLst>
          </p:cNvPr>
          <p:cNvSpPr/>
          <p:nvPr/>
        </p:nvSpPr>
        <p:spPr>
          <a:xfrm>
            <a:off x="12575341" y="6152474"/>
            <a:ext cx="134431" cy="302442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329C17F1-FD88-5F9F-463B-249E43DAFFBA}"/>
              </a:ext>
            </a:extLst>
          </p:cNvPr>
          <p:cNvSpPr/>
          <p:nvPr/>
        </p:nvSpPr>
        <p:spPr>
          <a:xfrm>
            <a:off x="3195328" y="7239696"/>
            <a:ext cx="10673715" cy="10139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7C7FCF6-FCC4-DD1F-B8C8-4E177B34839F}"/>
              </a:ext>
            </a:extLst>
          </p:cNvPr>
          <p:cNvSpPr/>
          <p:nvPr/>
        </p:nvSpPr>
        <p:spPr>
          <a:xfrm>
            <a:off x="3195329" y="6004891"/>
            <a:ext cx="10673715" cy="10139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59B91E5-F378-8842-5515-7298A96AA58E}"/>
              </a:ext>
            </a:extLst>
          </p:cNvPr>
          <p:cNvSpPr/>
          <p:nvPr/>
        </p:nvSpPr>
        <p:spPr>
          <a:xfrm>
            <a:off x="3209298" y="4731428"/>
            <a:ext cx="10673715" cy="10139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6469FCC3-A2B6-8035-B8C3-B05AD2770903}"/>
              </a:ext>
            </a:extLst>
          </p:cNvPr>
          <p:cNvSpPr/>
          <p:nvPr/>
        </p:nvSpPr>
        <p:spPr>
          <a:xfrm>
            <a:off x="3195329" y="3415883"/>
            <a:ext cx="10673715" cy="10139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4BC837C-CDA0-7F90-DCFB-EDD9F9AC6BCA}"/>
              </a:ext>
            </a:extLst>
          </p:cNvPr>
          <p:cNvSpPr/>
          <p:nvPr/>
        </p:nvSpPr>
        <p:spPr>
          <a:xfrm>
            <a:off x="3209299" y="2126102"/>
            <a:ext cx="10673715" cy="1013937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RESEARCH  AND 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3209299" y="2126102"/>
            <a:ext cx="12513945" cy="10020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charset="0"/>
                <a:sym typeface="Canva Sans" panose="020B0503030501040103"/>
              </a:rPr>
              <a:t>Ministry of Tribal Affairs – Scholarship Schemes Overview</a:t>
            </a:r>
          </a:p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charset="0"/>
                <a:sym typeface="Canva Sans" panose="020B0503030501040103"/>
              </a:rPr>
              <a:t> </a:t>
            </a:r>
          </a:p>
        </p:txBody>
      </p:sp>
      <p:sp>
        <p:nvSpPr>
          <p:cNvPr id="24" name="Text Box 23"/>
          <p:cNvSpPr txBox="1"/>
          <p:nvPr/>
        </p:nvSpPr>
        <p:spPr>
          <a:xfrm>
            <a:off x="3195329" y="3376417"/>
            <a:ext cx="8033385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charset="0"/>
                <a:sym typeface="Canva Sans" panose="020B0503030501040103"/>
              </a:rPr>
              <a:t>National Overseas Scholarship Portal</a:t>
            </a:r>
          </a:p>
        </p:txBody>
      </p:sp>
      <p:sp>
        <p:nvSpPr>
          <p:cNvPr id="25" name="Text Box 24"/>
          <p:cNvSpPr txBox="1"/>
          <p:nvPr/>
        </p:nvSpPr>
        <p:spPr>
          <a:xfrm>
            <a:off x="3201679" y="4702932"/>
            <a:ext cx="12388850" cy="1329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nva Sans" panose="020B0503030501040103"/>
              </a:rPr>
              <a:t>DBT Tribal Portal (Pre/Post Matric Scholarships)</a:t>
            </a:r>
          </a:p>
        </p:txBody>
      </p:sp>
      <p:sp>
        <p:nvSpPr>
          <p:cNvPr id="26" name="Text Box 25"/>
          <p:cNvSpPr txBox="1"/>
          <p:nvPr/>
        </p:nvSpPr>
        <p:spPr>
          <a:xfrm>
            <a:off x="3215014" y="5957692"/>
            <a:ext cx="8527415" cy="13671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National Fellowship Portal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3195329" y="7257537"/>
            <a:ext cx="10008870" cy="13671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National Scholarship Portal (NSP)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254EA3-35DD-A980-3991-76944AA1763F}"/>
              </a:ext>
            </a:extLst>
          </p:cNvPr>
          <p:cNvSpPr txBox="1"/>
          <p:nvPr/>
        </p:nvSpPr>
        <p:spPr>
          <a:xfrm>
            <a:off x="3519814" y="2640204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>
                <a:latin typeface="Cambria" panose="02040503050406030204" pitchFamily="18" charset="0"/>
                <a:ea typeface="Cambria" panose="02040503050406030204" pitchFamily="18" charset="0"/>
                <a:hlinkClick r:id="rId4"/>
              </a:rPr>
              <a:t>https://tribal.nic.in/ScholarshiP.aspx</a:t>
            </a:r>
            <a:endParaRPr lang="en-IN" sz="25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F1951E-87EC-67FB-B8EA-1CE3648EF49E}"/>
              </a:ext>
            </a:extLst>
          </p:cNvPr>
          <p:cNvSpPr txBox="1"/>
          <p:nvPr/>
        </p:nvSpPr>
        <p:spPr>
          <a:xfrm>
            <a:off x="3519814" y="3884375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>
                <a:latin typeface="Cambria" panose="02040503050406030204" pitchFamily="18" charset="0"/>
                <a:ea typeface="Cambria" panose="02040503050406030204" pitchFamily="18" charset="0"/>
                <a:hlinkClick r:id="rId5"/>
              </a:rPr>
              <a:t>https://overseas.tribal.gov.in/</a:t>
            </a:r>
            <a:endParaRPr lang="en-IN" sz="25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D5E4A7-E6DA-3B8F-97EF-1BEA350C0589}"/>
              </a:ext>
            </a:extLst>
          </p:cNvPr>
          <p:cNvSpPr txBox="1"/>
          <p:nvPr/>
        </p:nvSpPr>
        <p:spPr>
          <a:xfrm>
            <a:off x="3519814" y="5249155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>
                <a:latin typeface="Cambria" panose="02040503050406030204" pitchFamily="18" charset="0"/>
                <a:ea typeface="Cambria" panose="02040503050406030204" pitchFamily="18" charset="0"/>
                <a:hlinkClick r:id="rId6"/>
              </a:rPr>
              <a:t>https://dbttribal.gov.in/</a:t>
            </a:r>
            <a:endParaRPr lang="en-IN" sz="25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CF931F-2C13-86B4-941C-F689B0472F31}"/>
              </a:ext>
            </a:extLst>
          </p:cNvPr>
          <p:cNvSpPr txBox="1"/>
          <p:nvPr/>
        </p:nvSpPr>
        <p:spPr>
          <a:xfrm>
            <a:off x="3519814" y="6453805"/>
            <a:ext cx="93656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Cambria" panose="02040503050406030204" pitchFamily="18" charset="0"/>
                <a:ea typeface="Cambria" panose="02040503050406030204" pitchFamily="18" charset="0"/>
                <a:hlinkClick r:id="rId7"/>
              </a:rPr>
              <a:t>https://fellowship.tribal.gov.in/</a:t>
            </a:r>
            <a:endParaRPr lang="en-IN" sz="25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DF5040A-D602-87FC-023E-DE20DCDB968B}"/>
              </a:ext>
            </a:extLst>
          </p:cNvPr>
          <p:cNvSpPr txBox="1"/>
          <p:nvPr/>
        </p:nvSpPr>
        <p:spPr>
          <a:xfrm>
            <a:off x="3519814" y="7631389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>
                <a:latin typeface="Cambria" panose="02040503050406030204" pitchFamily="18" charset="0"/>
                <a:ea typeface="Cambria" panose="02040503050406030204" pitchFamily="18" charset="0"/>
                <a:hlinkClick r:id="rId8"/>
              </a:rPr>
              <a:t>https://scholarships.gov.in/</a:t>
            </a:r>
            <a:endParaRPr lang="en-IN" sz="25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36773F-B5D2-B32C-36FA-D4594A70C959}"/>
              </a:ext>
            </a:extLst>
          </p:cNvPr>
          <p:cNvSpPr txBox="1"/>
          <p:nvPr/>
        </p:nvSpPr>
        <p:spPr>
          <a:xfrm>
            <a:off x="7373491" y="8794930"/>
            <a:ext cx="2042419" cy="40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269875" algn="just">
              <a:lnSpc>
                <a:spcPts val="3500"/>
              </a:lnSpc>
            </a:pPr>
            <a:r>
              <a:rPr lang="en-IN" sz="2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THANK YOU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8&quot;:[20472045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lIns="0" tIns="0" rIns="0" bIns="0" rtlCol="0" anchor="t">
        <a:spAutoFit/>
      </a:bodyPr>
      <a:lstStyle>
        <a:defPPr marL="539750" indent="-269875" algn="just">
          <a:lnSpc>
            <a:spcPts val="3500"/>
          </a:lnSpc>
          <a:buFont typeface="Arial" panose="020B0604020202020204"/>
          <a:buChar char="•"/>
          <a:defRPr sz="2500" dirty="0">
            <a:solidFill>
              <a:srgbClr val="000000"/>
            </a:solidFill>
            <a:latin typeface="Canva Sans" panose="020B0503030501040103"/>
            <a:ea typeface="Canva Sans" panose="020B0503030501040103"/>
            <a:cs typeface="Canva Sans" panose="020B0503030501040103"/>
            <a:sym typeface="Canva Sans" panose="020B0503030501040103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188</TotalTime>
  <Words>578</Words>
  <Application>Microsoft Office PowerPoint</Application>
  <PresentationFormat>Custom</PresentationFormat>
  <Paragraphs>136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Garamond Bold</vt:lpstr>
      <vt:lpstr>Canva Sans</vt:lpstr>
      <vt:lpstr>Cambria</vt:lpstr>
      <vt:lpstr>Canva Sans Bold</vt:lpstr>
      <vt:lpstr>Arial</vt:lpstr>
      <vt:lpstr>Calibri</vt:lpstr>
      <vt:lpstr>ＭＳ Ｐゴシック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purushothaman</dc:creator>
  <cp:lastModifiedBy>purushothaman</cp:lastModifiedBy>
  <cp:revision>10</cp:revision>
  <dcterms:created xsi:type="dcterms:W3CDTF">2006-08-16T00:00:00Z</dcterms:created>
  <dcterms:modified xsi:type="dcterms:W3CDTF">2026-09-28T06:34:09Z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3C3DBCB6C3064AA5845F6CF464C5D6D6_12</vt:lpwstr>
  </property>
</Properties>
</file>